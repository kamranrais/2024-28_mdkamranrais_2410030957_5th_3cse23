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Confidence</c:v>
                </c:pt>
              </c:strCache>
            </c:strRef>
          </c:tx>
          <c:spPr>
            <a:solidFill>
              <a:srgbClr val="02C39A"/>
            </a:solidFill>
            <a:effectLst/>
          </c:spPr>
          <c:invertIfNegative val="0"/>
          <c:dLbls>
            <c:numFmt formatCode="0.00" sourceLinked="0"/>
            <c:txPr>
              <a:bodyPr/>
              <a:lstStyle/>
              <a:p>
                <a:pPr>
                  <a:defRPr b="0" i="0" strike="noStrike" sz="1100" u="none">
                    <a:solidFill>
                      <a:srgbClr val="0B2B2E"/>
                    </a:solidFill>
                    <a:latin typeface="Arial"/>
                  </a:defRPr>
                </a:pPr>
              </a:p>
            </c:txPr>
            <c:showLegendKey val="0"/>
            <c:showVal val="1"/>
            <c:showCatName val="0"/>
            <c:showSerName val="0"/>
            <c:showPercent val="0"/>
            <c:showBubbleSize val="0"/>
            <c:showLeaderLines val="0"/>
          </c:dLbls>
          <c:dPt>
            <c:idx val="0"/>
            <c:invertIfNegative val="0"/>
            <c:bubble3D val="0"/>
            <c:spPr>
              <a:solidFill>
                <a:srgbClr val="02C39A"/>
              </a:solidFill>
              <a:effectLst/>
            </c:spPr>
          </c:dPt>
          <c:dPt>
            <c:idx val="1"/>
            <c:invertIfNegative val="0"/>
            <c:bubble3D val="0"/>
            <c:spPr>
              <a:solidFill>
                <a:srgbClr val="8D99AE"/>
              </a:solidFill>
              <a:effectLst/>
            </c:spPr>
          </c:dPt>
          <c:dPt>
            <c:idx val="2"/>
            <c:invertIfNegative val="0"/>
            <c:bubble3D val="0"/>
            <c:spPr>
              <a:solidFill>
                <a:srgbClr val="D64550"/>
              </a:solidFill>
              <a:effectLst/>
            </c:spPr>
          </c:dPt>
          <c:cat>
            <c:multiLvlStrRef>
              <c:f>Sheet1!$A$2:$A$4</c:f>
              <c:multiLvlStrCache>
                <c:ptCount val="3"/>
                <c:lvl>
                  <c:pt idx="0">
                    <c:v>Positive</c:v>
                  </c:pt>
                  <c:pt idx="1">
                    <c:v>Neutral</c:v>
                  </c:pt>
                  <c:pt idx="2">
                    <c:v>Negative</c:v>
                  </c:pt>
                </c:lvl>
              </c:multiLvlStrCache>
            </c:multiLvlStrRef>
          </c:cat>
          <c:val>
            <c:numRef>
              <c:f>Sheet1!$B$2:$B$4</c:f>
              <c:numCache>
                <c:formatCode>General</c:formatCode>
                <c:ptCount val="3"/>
                <c:pt idx="0">
                  <c:v>0.86</c:v>
                </c:pt>
                <c:pt idx="1">
                  <c:v>0.52</c:v>
                </c:pt>
                <c:pt idx="2">
                  <c:v>0.79</c:v>
                </c:pt>
              </c:numCache>
            </c:numRef>
          </c:val>
        </c:ser>
        <c:dLbls>
          <c:numFmt formatCode="0.00" sourceLinked="0"/>
          <c:txPr>
            <a:bodyPr/>
            <a:lstStyle/>
            <a:p>
              <a:pPr>
                <a:defRPr b="0" i="0" strike="noStrike" sz="1100" u="none">
                  <a:solidFill>
                    <a:srgbClr val="0B2B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375"/>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12700" cap="flat">
              <a:solidFill>
                <a:srgbClr val="E3EC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73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418320" y="-1463040"/>
            <a:ext cx="4572000" cy="4572000"/>
          </a:xfrm>
          <a:prstGeom prst="ellipse">
            <a:avLst/>
          </a:prstGeom>
          <a:solidFill>
            <a:srgbClr val="028090">
              <a:alpha val="45000"/>
            </a:srgbClr>
          </a:solidFill>
          <a:ln/>
        </p:spPr>
      </p:sp>
      <p:sp>
        <p:nvSpPr>
          <p:cNvPr id="3" name="Shape 1"/>
          <p:cNvSpPr/>
          <p:nvPr/>
        </p:nvSpPr>
        <p:spPr>
          <a:xfrm>
            <a:off x="10607040" y="4206240"/>
            <a:ext cx="3108960" cy="3108960"/>
          </a:xfrm>
          <a:prstGeom prst="ellipse">
            <a:avLst/>
          </a:prstGeom>
          <a:solidFill>
            <a:srgbClr val="02C39A">
              <a:alpha val="40000"/>
            </a:srgbClr>
          </a:solidFill>
          <a:ln/>
        </p:spPr>
      </p:sp>
      <p:sp>
        <p:nvSpPr>
          <p:cNvPr id="4" name="Shape 2"/>
          <p:cNvSpPr/>
          <p:nvPr/>
        </p:nvSpPr>
        <p:spPr>
          <a:xfrm>
            <a:off x="-1097280" y="5120640"/>
            <a:ext cx="2743200" cy="2743200"/>
          </a:xfrm>
          <a:prstGeom prst="ellipse">
            <a:avLst/>
          </a:prstGeom>
          <a:solidFill>
            <a:srgbClr val="00A896">
              <a:alpha val="45000"/>
            </a:srgbClr>
          </a:solidFill>
          <a:ln/>
        </p:spPr>
      </p:sp>
      <p:sp>
        <p:nvSpPr>
          <p:cNvPr id="5" name="Text 3"/>
          <p:cNvSpPr txBox="1"/>
          <p:nvPr/>
        </p:nvSpPr>
        <p:spPr>
          <a:xfrm>
            <a:off x="731520" y="1874520"/>
            <a:ext cx="8686800" cy="36576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CODEC TECHNOLOGIES INTERNSHIP  |  FULL STACK DEVELOPER INTERN</a:t>
            </a:r>
            <a:endParaRPr lang="en-US" sz="1300" dirty="0"/>
          </a:p>
        </p:txBody>
      </p:sp>
      <p:sp>
        <p:nvSpPr>
          <p:cNvPr id="6" name="Text 4"/>
          <p:cNvSpPr txBox="1"/>
          <p:nvPr/>
        </p:nvSpPr>
        <p:spPr>
          <a:xfrm>
            <a:off x="731520" y="2286000"/>
            <a:ext cx="9601200" cy="182880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Student Feedback Sentiment</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Analysis System</a:t>
            </a:r>
            <a:endParaRPr lang="en-US" sz="4200" dirty="0"/>
          </a:p>
        </p:txBody>
      </p:sp>
      <p:sp>
        <p:nvSpPr>
          <p:cNvPr id="7" name="Text 5"/>
          <p:cNvSpPr txBox="1"/>
          <p:nvPr/>
        </p:nvSpPr>
        <p:spPr>
          <a:xfrm>
            <a:off x="731520" y="3977640"/>
            <a:ext cx="8503920" cy="731520"/>
          </a:xfrm>
          <a:prstGeom prst="rect">
            <a:avLst/>
          </a:prstGeom>
          <a:noFill/>
          <a:ln/>
        </p:spPr>
        <p:txBody>
          <a:bodyPr wrap="square" lIns="0" tIns="0" rIns="0" bIns="0" rtlCol="0" anchor="ctr"/>
          <a:lstStyle/>
          <a:p>
            <a:pPr indent="0" marL="0">
              <a:lnSpc>
                <a:spcPct val="120000"/>
              </a:lnSpc>
              <a:buNone/>
            </a:pPr>
            <a:r>
              <a:rPr lang="en-US" sz="1500" i="1" dirty="0">
                <a:solidFill>
                  <a:srgbClr val="CFEAE6"/>
                </a:solidFill>
                <a:latin typeface="Calibri" pitchFamily="34" charset="0"/>
                <a:ea typeface="Calibri" pitchFamily="34" charset="-122"/>
                <a:cs typeface="Calibri" pitchFamily="34" charset="-120"/>
              </a:rPr>
              <a:t>Classifying student feedback as Positive, Negative, or Neutral using NLP,</a:t>
            </a:r>
            <a:endParaRPr lang="en-US" sz="1500" dirty="0"/>
          </a:p>
          <a:p>
            <a:pPr indent="0" marL="0">
              <a:lnSpc>
                <a:spcPct val="120000"/>
              </a:lnSpc>
              <a:buNone/>
            </a:pPr>
            <a:r>
              <a:rPr lang="en-US" sz="1500" i="1" dirty="0">
                <a:solidFill>
                  <a:srgbClr val="CFEAE6"/>
                </a:solidFill>
                <a:latin typeface="Calibri" pitchFamily="34" charset="0"/>
                <a:ea typeface="Calibri" pitchFamily="34" charset="-122"/>
                <a:cs typeface="Calibri" pitchFamily="34" charset="-120"/>
              </a:rPr>
              <a:t>so faculty can read a dashboard instead of thousands of comments.</a:t>
            </a:r>
            <a:endParaRPr lang="en-US" sz="1500" dirty="0"/>
          </a:p>
        </p:txBody>
      </p:sp>
      <p:sp>
        <p:nvSpPr>
          <p:cNvPr id="8" name="Shape 6"/>
          <p:cNvSpPr/>
          <p:nvPr/>
        </p:nvSpPr>
        <p:spPr>
          <a:xfrm>
            <a:off x="731520" y="5074920"/>
            <a:ext cx="2926080" cy="0"/>
          </a:xfrm>
          <a:prstGeom prst="line">
            <a:avLst/>
          </a:prstGeom>
          <a:noFill/>
          <a:ln w="25400">
            <a:solidFill>
              <a:srgbClr val="00A896"/>
            </a:solidFill>
            <a:prstDash val="solid"/>
          </a:ln>
        </p:spPr>
      </p:sp>
      <p:sp>
        <p:nvSpPr>
          <p:cNvPr id="9" name="Text 7"/>
          <p:cNvSpPr txBox="1"/>
          <p:nvPr/>
        </p:nvSpPr>
        <p:spPr>
          <a:xfrm>
            <a:off x="731520" y="525780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Md Kamran Rais</a:t>
            </a:r>
            <a:endParaRPr lang="en-US" sz="1400" dirty="0"/>
          </a:p>
        </p:txBody>
      </p:sp>
      <p:sp>
        <p:nvSpPr>
          <p:cNvPr id="10" name="Text 8"/>
          <p:cNvSpPr txBox="1"/>
          <p:nvPr/>
        </p:nvSpPr>
        <p:spPr>
          <a:xfrm>
            <a:off x="731520" y="5577840"/>
            <a:ext cx="5486400" cy="320040"/>
          </a:xfrm>
          <a:prstGeom prst="rect">
            <a:avLst/>
          </a:prstGeom>
          <a:noFill/>
          <a:ln/>
        </p:spPr>
        <p:txBody>
          <a:bodyPr wrap="square" lIns="0" tIns="0" rIns="0" bIns="0" rtlCol="0" anchor="ctr"/>
          <a:lstStyle/>
          <a:p>
            <a:pPr indent="0" marL="0">
              <a:buNone/>
            </a:pPr>
            <a:r>
              <a:rPr lang="en-US" sz="1200" dirty="0">
                <a:solidFill>
                  <a:srgbClr val="B9D6D2"/>
                </a:solidFill>
                <a:latin typeface="Calibri" pitchFamily="34" charset="0"/>
                <a:ea typeface="Calibri" pitchFamily="34" charset="-122"/>
                <a:cs typeface="Calibri" pitchFamily="34" charset="-120"/>
              </a:rPr>
              <a:t>Roll No. 2410030957  |  Class 3CSE23  |  Batch 2024–28</a:t>
            </a:r>
            <a:endParaRPr lang="en-US" sz="1200" dirty="0"/>
          </a:p>
        </p:txBody>
      </p:sp>
      <p:sp>
        <p:nvSpPr>
          <p:cNvPr id="11" name="Text 9"/>
          <p:cNvSpPr txBox="1"/>
          <p:nvPr/>
        </p:nvSpPr>
        <p:spPr>
          <a:xfrm>
            <a:off x="731520" y="5897880"/>
            <a:ext cx="7315200" cy="320040"/>
          </a:xfrm>
          <a:prstGeom prst="rect">
            <a:avLst/>
          </a:prstGeom>
          <a:noFill/>
          <a:ln/>
        </p:spPr>
        <p:txBody>
          <a:bodyPr wrap="square" lIns="0" tIns="0" rIns="0" bIns="0" rtlCol="0" anchor="ctr"/>
          <a:lstStyle/>
          <a:p>
            <a:pPr indent="0" marL="0">
              <a:buNone/>
            </a:pPr>
            <a:r>
              <a:rPr lang="en-US" sz="1100" dirty="0">
                <a:solidFill>
                  <a:srgbClr val="8FB4AF"/>
                </a:solidFill>
                <a:latin typeface="Calibri" pitchFamily="34" charset="0"/>
                <a:ea typeface="Calibri" pitchFamily="34" charset="-122"/>
                <a:cs typeface="Calibri" pitchFamily="34" charset="-120"/>
              </a:rPr>
              <a:t>School of Computer Science and Engineering, IILM University, Greater Noida, 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PROJECT OVERVIEW</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Introduction</a:t>
            </a:r>
            <a:endParaRPr lang="en-US" sz="3000" dirty="0"/>
          </a:p>
        </p:txBody>
      </p:sp>
      <p:sp>
        <p:nvSpPr>
          <p:cNvPr id="4" name="Text 2"/>
          <p:cNvSpPr txBox="1"/>
          <p:nvPr/>
        </p:nvSpPr>
        <p:spPr>
          <a:xfrm>
            <a:off x="548640" y="1508760"/>
            <a:ext cx="6309360" cy="1463040"/>
          </a:xfrm>
          <a:prstGeom prst="rect">
            <a:avLst/>
          </a:prstGeom>
          <a:noFill/>
          <a:ln/>
        </p:spPr>
        <p:txBody>
          <a:bodyPr wrap="square" lIns="0" tIns="0" rIns="0" bIns="0" rtlCol="0" anchor="ctr"/>
          <a:lstStyle/>
          <a:p>
            <a:pPr indent="0" marL="0">
              <a:lnSpc>
                <a:spcPct val="125000"/>
              </a:lnSpc>
              <a:buNone/>
            </a:pPr>
            <a:r>
              <a:rPr lang="en-US" sz="1500" dirty="0">
                <a:solidFill>
                  <a:srgbClr val="0B2B2E"/>
                </a:solidFill>
                <a:latin typeface="Calibri" pitchFamily="34" charset="0"/>
                <a:ea typeface="Calibri" pitchFamily="34" charset="-122"/>
                <a:cs typeface="Calibri" pitchFamily="34" charset="-120"/>
              </a:rPr>
              <a:t>Educational institutions regularly collect student feedback to evaluate teaching quality, course content, and the overall learning experience — but manually reading and interpreting large volumes of open-ended comments is slow and prone to inconsistent judgement.</a:t>
            </a:r>
            <a:endParaRPr lang="en-US" sz="1500" dirty="0"/>
          </a:p>
        </p:txBody>
      </p:sp>
      <p:sp>
        <p:nvSpPr>
          <p:cNvPr id="5" name="Text 3"/>
          <p:cNvSpPr txBox="1"/>
          <p:nvPr/>
        </p:nvSpPr>
        <p:spPr>
          <a:xfrm>
            <a:off x="548640" y="3063240"/>
            <a:ext cx="6309360" cy="1371600"/>
          </a:xfrm>
          <a:prstGeom prst="rect">
            <a:avLst/>
          </a:prstGeom>
          <a:noFill/>
          <a:ln/>
        </p:spPr>
        <p:txBody>
          <a:bodyPr wrap="square" lIns="0" tIns="0" rIns="0" bIns="0" rtlCol="0" anchor="ctr"/>
          <a:lstStyle/>
          <a:p>
            <a:pPr indent="0" marL="0">
              <a:lnSpc>
                <a:spcPct val="125000"/>
              </a:lnSpc>
              <a:buNone/>
            </a:pPr>
            <a:r>
              <a:rPr lang="en-US" sz="1500" dirty="0">
                <a:solidFill>
                  <a:srgbClr val="0B2B2E"/>
                </a:solidFill>
                <a:latin typeface="Calibri" pitchFamily="34" charset="0"/>
                <a:ea typeface="Calibri" pitchFamily="34" charset="-122"/>
                <a:cs typeface="Calibri" pitchFamily="34" charset="-120"/>
              </a:rPr>
              <a:t>The Student Feedback Sentiment Analysis System solves this: a student logs in, submits feedback, and Natural Language Processing (NLP) automatically analyzes it — with results shown on an analytics dashboard.</a:t>
            </a:r>
            <a:endParaRPr lang="en-US" sz="1500" dirty="0"/>
          </a:p>
        </p:txBody>
      </p:sp>
      <p:sp>
        <p:nvSpPr>
          <p:cNvPr id="6" name="Text 4"/>
          <p:cNvSpPr txBox="1"/>
          <p:nvPr/>
        </p:nvSpPr>
        <p:spPr>
          <a:xfrm>
            <a:off x="548640" y="4663440"/>
            <a:ext cx="6309360" cy="914400"/>
          </a:xfrm>
          <a:prstGeom prst="rect">
            <a:avLst/>
          </a:prstGeom>
          <a:noFill/>
          <a:ln/>
        </p:spPr>
        <p:txBody>
          <a:bodyPr wrap="square" lIns="0" tIns="0" rIns="0" bIns="0" rtlCol="0" anchor="ctr"/>
          <a:lstStyle/>
          <a:p>
            <a:pPr indent="0" marL="0">
              <a:lnSpc>
                <a:spcPct val="120000"/>
              </a:lnSpc>
              <a:buNone/>
            </a:pPr>
            <a:r>
              <a:rPr lang="en-US" sz="1250" i="1" dirty="0">
                <a:solidFill>
                  <a:srgbClr val="5F7375"/>
                </a:solidFill>
                <a:latin typeface="Calibri" pitchFamily="34" charset="0"/>
                <a:ea typeface="Calibri" pitchFamily="34" charset="-122"/>
                <a:cs typeface="Calibri" pitchFamily="34" charset="-120"/>
              </a:rPr>
              <a:t>Built during the Codec Technologies Full Stack Developer Internship (02/10/2026–08/10/2026), applying full-stack development and NLP concepts.</a:t>
            </a:r>
            <a:endParaRPr lang="en-US" sz="1250" dirty="0"/>
          </a:p>
        </p:txBody>
      </p:sp>
      <p:sp>
        <p:nvSpPr>
          <p:cNvPr id="7" name="Shape 5"/>
          <p:cNvSpPr/>
          <p:nvPr/>
        </p:nvSpPr>
        <p:spPr>
          <a:xfrm>
            <a:off x="7315200" y="1508760"/>
            <a:ext cx="4297680" cy="4709160"/>
          </a:xfrm>
          <a:prstGeom prst="roundRect">
            <a:avLst>
              <a:gd name="adj" fmla="val 2553"/>
            </a:avLst>
          </a:prstGeom>
          <a:solidFill>
            <a:srgbClr val="F4FAF9"/>
          </a:solidFill>
          <a:ln/>
        </p:spPr>
      </p:sp>
      <p:sp>
        <p:nvSpPr>
          <p:cNvPr id="8" name="Shape 6"/>
          <p:cNvSpPr/>
          <p:nvPr/>
        </p:nvSpPr>
        <p:spPr>
          <a:xfrm>
            <a:off x="7635240" y="1874520"/>
            <a:ext cx="457200" cy="457200"/>
          </a:xfrm>
          <a:prstGeom prst="ellipse">
            <a:avLst/>
          </a:prstGeom>
          <a:solidFill>
            <a:srgbClr val="028090"/>
          </a:solidFill>
          <a:ln/>
        </p:spPr>
      </p:sp>
      <p:sp>
        <p:nvSpPr>
          <p:cNvPr id="9" name="Text 7"/>
          <p:cNvSpPr txBox="1"/>
          <p:nvPr/>
        </p:nvSpPr>
        <p:spPr>
          <a:xfrm>
            <a:off x="763524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8275320" y="1874520"/>
            <a:ext cx="3017520" cy="457200"/>
          </a:xfrm>
          <a:prstGeom prst="rect">
            <a:avLst/>
          </a:prstGeom>
          <a:noFill/>
          <a:ln/>
        </p:spPr>
        <p:txBody>
          <a:bodyPr wrap="square" lIns="0" tIns="0" rIns="0" bIns="0" rtlCol="0" anchor="ctr"/>
          <a:lstStyle/>
          <a:p>
            <a:pPr indent="0" marL="0">
              <a:buNone/>
            </a:pPr>
            <a:r>
              <a:rPr lang="en-US" sz="1400" b="1" dirty="0">
                <a:solidFill>
                  <a:srgbClr val="0B2B2E"/>
                </a:solidFill>
                <a:latin typeface="Calibri" pitchFamily="34" charset="0"/>
                <a:ea typeface="Calibri" pitchFamily="34" charset="-122"/>
                <a:cs typeface="Calibri" pitchFamily="34" charset="-120"/>
              </a:rPr>
              <a:t>Student Login</a:t>
            </a:r>
            <a:endParaRPr lang="en-US" sz="1400" dirty="0"/>
          </a:p>
        </p:txBody>
      </p:sp>
      <p:sp>
        <p:nvSpPr>
          <p:cNvPr id="11" name="Shape 9"/>
          <p:cNvSpPr/>
          <p:nvPr/>
        </p:nvSpPr>
        <p:spPr>
          <a:xfrm>
            <a:off x="7863840" y="2331720"/>
            <a:ext cx="0" cy="502920"/>
          </a:xfrm>
          <a:prstGeom prst="line">
            <a:avLst/>
          </a:prstGeom>
          <a:noFill/>
          <a:ln w="19050">
            <a:solidFill>
              <a:srgbClr val="00A896"/>
            </a:solidFill>
            <a:prstDash val="dash"/>
          </a:ln>
        </p:spPr>
      </p:sp>
      <p:sp>
        <p:nvSpPr>
          <p:cNvPr id="12" name="Shape 10"/>
          <p:cNvSpPr/>
          <p:nvPr/>
        </p:nvSpPr>
        <p:spPr>
          <a:xfrm>
            <a:off x="7635240" y="2834640"/>
            <a:ext cx="457200" cy="457200"/>
          </a:xfrm>
          <a:prstGeom prst="ellipse">
            <a:avLst/>
          </a:prstGeom>
          <a:solidFill>
            <a:srgbClr val="00A896"/>
          </a:solidFill>
          <a:ln/>
        </p:spPr>
      </p:sp>
      <p:sp>
        <p:nvSpPr>
          <p:cNvPr id="13" name="Text 11"/>
          <p:cNvSpPr txBox="1"/>
          <p:nvPr/>
        </p:nvSpPr>
        <p:spPr>
          <a:xfrm>
            <a:off x="7635240" y="2834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8275320" y="2834640"/>
            <a:ext cx="3017520" cy="457200"/>
          </a:xfrm>
          <a:prstGeom prst="rect">
            <a:avLst/>
          </a:prstGeom>
          <a:noFill/>
          <a:ln/>
        </p:spPr>
        <p:txBody>
          <a:bodyPr wrap="square" lIns="0" tIns="0" rIns="0" bIns="0" rtlCol="0" anchor="ctr"/>
          <a:lstStyle/>
          <a:p>
            <a:pPr indent="0" marL="0">
              <a:buNone/>
            </a:pPr>
            <a:r>
              <a:rPr lang="en-US" sz="1400" b="1" dirty="0">
                <a:solidFill>
                  <a:srgbClr val="0B2B2E"/>
                </a:solidFill>
                <a:latin typeface="Calibri" pitchFamily="34" charset="0"/>
                <a:ea typeface="Calibri" pitchFamily="34" charset="-122"/>
                <a:cs typeface="Calibri" pitchFamily="34" charset="-120"/>
              </a:rPr>
              <a:t>Submit Feedback</a:t>
            </a:r>
            <a:endParaRPr lang="en-US" sz="1400" dirty="0"/>
          </a:p>
        </p:txBody>
      </p:sp>
      <p:sp>
        <p:nvSpPr>
          <p:cNvPr id="15" name="Shape 13"/>
          <p:cNvSpPr/>
          <p:nvPr/>
        </p:nvSpPr>
        <p:spPr>
          <a:xfrm>
            <a:off x="7863840" y="3291840"/>
            <a:ext cx="0" cy="502920"/>
          </a:xfrm>
          <a:prstGeom prst="line">
            <a:avLst/>
          </a:prstGeom>
          <a:noFill/>
          <a:ln w="19050">
            <a:solidFill>
              <a:srgbClr val="00A896"/>
            </a:solidFill>
            <a:prstDash val="dash"/>
          </a:ln>
        </p:spPr>
      </p:sp>
      <p:sp>
        <p:nvSpPr>
          <p:cNvPr id="16" name="Shape 14"/>
          <p:cNvSpPr/>
          <p:nvPr/>
        </p:nvSpPr>
        <p:spPr>
          <a:xfrm>
            <a:off x="7635240" y="3794760"/>
            <a:ext cx="457200" cy="457200"/>
          </a:xfrm>
          <a:prstGeom prst="ellipse">
            <a:avLst/>
          </a:prstGeom>
          <a:solidFill>
            <a:srgbClr val="02C39A"/>
          </a:solidFill>
          <a:ln/>
        </p:spPr>
      </p:sp>
      <p:sp>
        <p:nvSpPr>
          <p:cNvPr id="17" name="Text 15"/>
          <p:cNvSpPr txBox="1"/>
          <p:nvPr/>
        </p:nvSpPr>
        <p:spPr>
          <a:xfrm>
            <a:off x="763524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275320" y="3794760"/>
            <a:ext cx="3017520" cy="457200"/>
          </a:xfrm>
          <a:prstGeom prst="rect">
            <a:avLst/>
          </a:prstGeom>
          <a:noFill/>
          <a:ln/>
        </p:spPr>
        <p:txBody>
          <a:bodyPr wrap="square" lIns="0" tIns="0" rIns="0" bIns="0" rtlCol="0" anchor="ctr"/>
          <a:lstStyle/>
          <a:p>
            <a:pPr indent="0" marL="0">
              <a:buNone/>
            </a:pPr>
            <a:r>
              <a:rPr lang="en-US" sz="1400" b="1" dirty="0">
                <a:solidFill>
                  <a:srgbClr val="0B2B2E"/>
                </a:solidFill>
                <a:latin typeface="Calibri" pitchFamily="34" charset="0"/>
                <a:ea typeface="Calibri" pitchFamily="34" charset="-122"/>
                <a:cs typeface="Calibri" pitchFamily="34" charset="-120"/>
              </a:rPr>
              <a:t>NLP Sentiment Engine</a:t>
            </a:r>
            <a:endParaRPr lang="en-US" sz="1400" dirty="0"/>
          </a:p>
        </p:txBody>
      </p:sp>
      <p:sp>
        <p:nvSpPr>
          <p:cNvPr id="19" name="Shape 17"/>
          <p:cNvSpPr/>
          <p:nvPr/>
        </p:nvSpPr>
        <p:spPr>
          <a:xfrm>
            <a:off x="7863840" y="4251960"/>
            <a:ext cx="0" cy="502920"/>
          </a:xfrm>
          <a:prstGeom prst="line">
            <a:avLst/>
          </a:prstGeom>
          <a:noFill/>
          <a:ln w="19050">
            <a:solidFill>
              <a:srgbClr val="00A896"/>
            </a:solidFill>
            <a:prstDash val="dash"/>
          </a:ln>
        </p:spPr>
      </p:sp>
      <p:sp>
        <p:nvSpPr>
          <p:cNvPr id="20" name="Shape 18"/>
          <p:cNvSpPr/>
          <p:nvPr/>
        </p:nvSpPr>
        <p:spPr>
          <a:xfrm>
            <a:off x="7635240" y="4754880"/>
            <a:ext cx="457200" cy="457200"/>
          </a:xfrm>
          <a:prstGeom prst="ellipse">
            <a:avLst/>
          </a:prstGeom>
          <a:solidFill>
            <a:srgbClr val="028090"/>
          </a:solidFill>
          <a:ln/>
        </p:spPr>
      </p:sp>
      <p:sp>
        <p:nvSpPr>
          <p:cNvPr id="21" name="Text 19"/>
          <p:cNvSpPr txBox="1"/>
          <p:nvPr/>
        </p:nvSpPr>
        <p:spPr>
          <a:xfrm>
            <a:off x="7635240"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8275320" y="4754880"/>
            <a:ext cx="3017520" cy="457200"/>
          </a:xfrm>
          <a:prstGeom prst="rect">
            <a:avLst/>
          </a:prstGeom>
          <a:noFill/>
          <a:ln/>
        </p:spPr>
        <p:txBody>
          <a:bodyPr wrap="square" lIns="0" tIns="0" rIns="0" bIns="0" rtlCol="0" anchor="ctr"/>
          <a:lstStyle/>
          <a:p>
            <a:pPr indent="0" marL="0">
              <a:buNone/>
            </a:pPr>
            <a:r>
              <a:rPr lang="en-US" sz="1400" b="1" dirty="0">
                <a:solidFill>
                  <a:srgbClr val="0B2B2E"/>
                </a:solidFill>
                <a:latin typeface="Calibri" pitchFamily="34" charset="0"/>
                <a:ea typeface="Calibri" pitchFamily="34" charset="-122"/>
                <a:cs typeface="Calibri" pitchFamily="34" charset="-120"/>
              </a:rPr>
              <a:t>Analytics Dashboard</a:t>
            </a:r>
            <a:endParaRPr lang="en-US" sz="1400" dirty="0"/>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24" name="Text 2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9"/>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WHY THIS PROJECT</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600200"/>
            <a:ext cx="6675120" cy="4480560"/>
          </a:xfrm>
          <a:prstGeom prst="roundRect">
            <a:avLst>
              <a:gd name="adj" fmla="val 2449"/>
            </a:avLst>
          </a:prstGeom>
          <a:solidFill>
            <a:srgbClr val="FFFFFF"/>
          </a:solidFill>
          <a:ln/>
          <a:effectLst>
            <a:outerShdw sx="100000" sy="100000" kx="0" ky="0" algn="bl" rotWithShape="0" blurRad="101600" dist="38100" dir="5400000">
              <a:srgbClr val="1E2A2C">
                <a:alpha val="12000"/>
              </a:srgbClr>
            </a:outerShdw>
          </a:effectLst>
        </p:spPr>
      </p:sp>
      <p:sp>
        <p:nvSpPr>
          <p:cNvPr id="5" name="Text 3"/>
          <p:cNvSpPr txBox="1"/>
          <p:nvPr/>
        </p:nvSpPr>
        <p:spPr>
          <a:xfrm>
            <a:off x="777240" y="1600200"/>
            <a:ext cx="914400" cy="914400"/>
          </a:xfrm>
          <a:prstGeom prst="rect">
            <a:avLst/>
          </a:prstGeom>
          <a:noFill/>
          <a:ln/>
        </p:spPr>
        <p:txBody>
          <a:bodyPr wrap="square" lIns="0" tIns="0" rIns="0" bIns="0" rtlCol="0" anchor="ctr"/>
          <a:lstStyle/>
          <a:p>
            <a:pPr indent="0" marL="0">
              <a:buNone/>
            </a:pPr>
            <a:r>
              <a:rPr lang="en-US" sz="7000" b="1" dirty="0">
                <a:solidFill>
                  <a:srgbClr val="00A896"/>
                </a:solidFill>
                <a:latin typeface="Georgia" pitchFamily="34" charset="0"/>
                <a:ea typeface="Georgia" pitchFamily="34" charset="-122"/>
                <a:cs typeface="Georgia" pitchFamily="34" charset="-120"/>
              </a:rPr>
              <a:t>“</a:t>
            </a:r>
            <a:endParaRPr lang="en-US" sz="7000" dirty="0"/>
          </a:p>
        </p:txBody>
      </p:sp>
      <p:sp>
        <p:nvSpPr>
          <p:cNvPr id="6" name="Text 4"/>
          <p:cNvSpPr txBox="1"/>
          <p:nvPr/>
        </p:nvSpPr>
        <p:spPr>
          <a:xfrm>
            <a:off x="1097280" y="2331720"/>
            <a:ext cx="5852160" cy="1828800"/>
          </a:xfrm>
          <a:prstGeom prst="rect">
            <a:avLst/>
          </a:prstGeom>
          <a:noFill/>
          <a:ln/>
        </p:spPr>
        <p:txBody>
          <a:bodyPr wrap="square" lIns="0" tIns="0" rIns="0" bIns="0" rtlCol="0" anchor="ctr"/>
          <a:lstStyle/>
          <a:p>
            <a:pPr indent="0" marL="0">
              <a:lnSpc>
                <a:spcPct val="130000"/>
              </a:lnSpc>
              <a:buNone/>
            </a:pPr>
            <a:r>
              <a:rPr lang="en-US" sz="1650" dirty="0">
                <a:solidFill>
                  <a:srgbClr val="0B2B2E"/>
                </a:solidFill>
                <a:latin typeface="Calibri" pitchFamily="34" charset="0"/>
                <a:ea typeface="Calibri" pitchFamily="34" charset="-122"/>
                <a:cs typeface="Calibri" pitchFamily="34" charset="-120"/>
              </a:rPr>
              <a:t>Manual analysis of student feedback is slow, subjective, and does not scale as the number of responses grows. Faculty and administrators struggle to quickly spot overall sentiment trends or specific complaints buried in large volumes of free-text comments.</a:t>
            </a:r>
            <a:endParaRPr lang="en-US" sz="1650" dirty="0"/>
          </a:p>
        </p:txBody>
      </p:sp>
      <p:sp>
        <p:nvSpPr>
          <p:cNvPr id="7" name="Shape 5"/>
          <p:cNvSpPr/>
          <p:nvPr/>
        </p:nvSpPr>
        <p:spPr>
          <a:xfrm>
            <a:off x="1097280" y="4343400"/>
            <a:ext cx="2011680" cy="0"/>
          </a:xfrm>
          <a:prstGeom prst="line">
            <a:avLst/>
          </a:prstGeom>
          <a:noFill/>
          <a:ln w="25400">
            <a:solidFill>
              <a:srgbClr val="02C39A"/>
            </a:solidFill>
            <a:prstDash val="solid"/>
          </a:ln>
        </p:spPr>
      </p:sp>
      <p:sp>
        <p:nvSpPr>
          <p:cNvPr id="8" name="Text 6"/>
          <p:cNvSpPr txBox="1"/>
          <p:nvPr/>
        </p:nvSpPr>
        <p:spPr>
          <a:xfrm>
            <a:off x="1097280" y="4526280"/>
            <a:ext cx="5852160" cy="1371600"/>
          </a:xfrm>
          <a:prstGeom prst="rect">
            <a:avLst/>
          </a:prstGeom>
          <a:noFill/>
          <a:ln/>
        </p:spPr>
        <p:txBody>
          <a:bodyPr wrap="square" lIns="0" tIns="0" rIns="0" bIns="0" rtlCol="0" anchor="ctr"/>
          <a:lstStyle/>
          <a:p>
            <a:pPr indent="0" marL="0">
              <a:lnSpc>
                <a:spcPct val="125000"/>
              </a:lnSpc>
              <a:buNone/>
            </a:pPr>
            <a:r>
              <a:rPr lang="en-US" sz="1400" b="1" i="1" dirty="0">
                <a:solidFill>
                  <a:srgbClr val="028090"/>
                </a:solidFill>
                <a:latin typeface="Calibri" pitchFamily="34" charset="0"/>
                <a:ea typeface="Calibri" pitchFamily="34" charset="-122"/>
                <a:cs typeface="Calibri" pitchFamily="34" charset="-120"/>
              </a:rPr>
              <a:t>There is a need for a system that securely collects feedback and automatically classifies it as Positive, Negative, or Neutral — presented in an easily interpretable form.</a:t>
            </a:r>
            <a:endParaRPr lang="en-US" sz="1400" dirty="0"/>
          </a:p>
        </p:txBody>
      </p:sp>
      <p:sp>
        <p:nvSpPr>
          <p:cNvPr id="9" name="Shape 7"/>
          <p:cNvSpPr/>
          <p:nvPr/>
        </p:nvSpPr>
        <p:spPr>
          <a:xfrm>
            <a:off x="7589520" y="1737360"/>
            <a:ext cx="4023360" cy="1325880"/>
          </a:xfrm>
          <a:prstGeom prst="roundRect">
            <a:avLst>
              <a:gd name="adj" fmla="val 6897"/>
            </a:avLst>
          </a:prstGeom>
          <a:solidFill>
            <a:srgbClr val="028090"/>
          </a:solidFill>
          <a:ln/>
        </p:spPr>
      </p:sp>
      <p:sp>
        <p:nvSpPr>
          <p:cNvPr id="10" name="Text 8"/>
          <p:cNvSpPr txBox="1"/>
          <p:nvPr/>
        </p:nvSpPr>
        <p:spPr>
          <a:xfrm>
            <a:off x="7863840" y="1865376"/>
            <a:ext cx="3566160"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Slow</a:t>
            </a:r>
            <a:endParaRPr lang="en-US" sz="2400" dirty="0"/>
          </a:p>
        </p:txBody>
      </p:sp>
      <p:sp>
        <p:nvSpPr>
          <p:cNvPr id="11" name="Text 9"/>
          <p:cNvSpPr txBox="1"/>
          <p:nvPr/>
        </p:nvSpPr>
        <p:spPr>
          <a:xfrm>
            <a:off x="7863840" y="2395728"/>
            <a:ext cx="3566160" cy="548640"/>
          </a:xfrm>
          <a:prstGeom prst="rect">
            <a:avLst/>
          </a:prstGeom>
          <a:noFill/>
          <a:ln/>
        </p:spPr>
        <p:txBody>
          <a:bodyPr wrap="square" lIns="0" tIns="0" rIns="0" bIns="0" rtlCol="0" anchor="ctr"/>
          <a:lstStyle/>
          <a:p>
            <a:pPr indent="0" marL="0">
              <a:lnSpc>
                <a:spcPct val="110000"/>
              </a:lnSpc>
              <a:buNone/>
            </a:pPr>
            <a:r>
              <a:rPr lang="en-US" sz="1150" dirty="0">
                <a:solidFill>
                  <a:srgbClr val="D7EFEC"/>
                </a:solidFill>
                <a:latin typeface="Calibri" pitchFamily="34" charset="0"/>
                <a:ea typeface="Calibri" pitchFamily="34" charset="-122"/>
                <a:cs typeface="Calibri" pitchFamily="34" charset="-120"/>
              </a:rPr>
              <a:t>Reading feedback</a:t>
            </a:r>
            <a:endParaRPr lang="en-US" sz="1150" dirty="0"/>
          </a:p>
          <a:p>
            <a:pPr indent="0" marL="0">
              <a:lnSpc>
                <a:spcPct val="110000"/>
              </a:lnSpc>
              <a:buNone/>
            </a:pPr>
            <a:r>
              <a:rPr lang="en-US" sz="1150" dirty="0">
                <a:solidFill>
                  <a:srgbClr val="D7EFEC"/>
                </a:solidFill>
                <a:latin typeface="Calibri" pitchFamily="34" charset="0"/>
                <a:ea typeface="Calibri" pitchFamily="34" charset="-122"/>
                <a:cs typeface="Calibri" pitchFamily="34" charset="-120"/>
              </a:rPr>
              <a:t>by hand doesn't scale</a:t>
            </a:r>
            <a:endParaRPr lang="en-US" sz="1150" dirty="0"/>
          </a:p>
        </p:txBody>
      </p:sp>
      <p:sp>
        <p:nvSpPr>
          <p:cNvPr id="12" name="Shape 10"/>
          <p:cNvSpPr/>
          <p:nvPr/>
        </p:nvSpPr>
        <p:spPr>
          <a:xfrm>
            <a:off x="7589520" y="3273552"/>
            <a:ext cx="4023360" cy="1325880"/>
          </a:xfrm>
          <a:prstGeom prst="roundRect">
            <a:avLst>
              <a:gd name="adj" fmla="val 6897"/>
            </a:avLst>
          </a:prstGeom>
          <a:solidFill>
            <a:srgbClr val="028090"/>
          </a:solidFill>
          <a:ln/>
        </p:spPr>
      </p:sp>
      <p:sp>
        <p:nvSpPr>
          <p:cNvPr id="13" name="Text 11"/>
          <p:cNvSpPr txBox="1"/>
          <p:nvPr/>
        </p:nvSpPr>
        <p:spPr>
          <a:xfrm>
            <a:off x="7863840" y="3401568"/>
            <a:ext cx="3566160"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Subjective</a:t>
            </a:r>
            <a:endParaRPr lang="en-US" sz="2400" dirty="0"/>
          </a:p>
        </p:txBody>
      </p:sp>
      <p:sp>
        <p:nvSpPr>
          <p:cNvPr id="14" name="Text 12"/>
          <p:cNvSpPr txBox="1"/>
          <p:nvPr/>
        </p:nvSpPr>
        <p:spPr>
          <a:xfrm>
            <a:off x="7863840" y="3931920"/>
            <a:ext cx="3566160" cy="548640"/>
          </a:xfrm>
          <a:prstGeom prst="rect">
            <a:avLst/>
          </a:prstGeom>
          <a:noFill/>
          <a:ln/>
        </p:spPr>
        <p:txBody>
          <a:bodyPr wrap="square" lIns="0" tIns="0" rIns="0" bIns="0" rtlCol="0" anchor="ctr"/>
          <a:lstStyle/>
          <a:p>
            <a:pPr indent="0" marL="0">
              <a:lnSpc>
                <a:spcPct val="110000"/>
              </a:lnSpc>
              <a:buNone/>
            </a:pPr>
            <a:r>
              <a:rPr lang="en-US" sz="1150" dirty="0">
                <a:solidFill>
                  <a:srgbClr val="D7EFEC"/>
                </a:solidFill>
                <a:latin typeface="Calibri" pitchFamily="34" charset="0"/>
                <a:ea typeface="Calibri" pitchFamily="34" charset="-122"/>
                <a:cs typeface="Calibri" pitchFamily="34" charset="-120"/>
              </a:rPr>
              <a:t>Inconsistent human</a:t>
            </a:r>
            <a:endParaRPr lang="en-US" sz="1150" dirty="0"/>
          </a:p>
          <a:p>
            <a:pPr indent="0" marL="0">
              <a:lnSpc>
                <a:spcPct val="110000"/>
              </a:lnSpc>
              <a:buNone/>
            </a:pPr>
            <a:r>
              <a:rPr lang="en-US" sz="1150" dirty="0">
                <a:solidFill>
                  <a:srgbClr val="D7EFEC"/>
                </a:solidFill>
                <a:latin typeface="Calibri" pitchFamily="34" charset="0"/>
                <a:ea typeface="Calibri" pitchFamily="34" charset="-122"/>
                <a:cs typeface="Calibri" pitchFamily="34" charset="-120"/>
              </a:rPr>
              <a:t>judgement of tone</a:t>
            </a:r>
            <a:endParaRPr lang="en-US" sz="1150" dirty="0"/>
          </a:p>
        </p:txBody>
      </p:sp>
      <p:sp>
        <p:nvSpPr>
          <p:cNvPr id="15" name="Shape 13"/>
          <p:cNvSpPr/>
          <p:nvPr/>
        </p:nvSpPr>
        <p:spPr>
          <a:xfrm>
            <a:off x="7589520" y="4809744"/>
            <a:ext cx="4023360" cy="1325880"/>
          </a:xfrm>
          <a:prstGeom prst="roundRect">
            <a:avLst>
              <a:gd name="adj" fmla="val 6897"/>
            </a:avLst>
          </a:prstGeom>
          <a:solidFill>
            <a:srgbClr val="028090"/>
          </a:solidFill>
          <a:ln/>
        </p:spPr>
      </p:sp>
      <p:sp>
        <p:nvSpPr>
          <p:cNvPr id="16" name="Text 14"/>
          <p:cNvSpPr txBox="1"/>
          <p:nvPr/>
        </p:nvSpPr>
        <p:spPr>
          <a:xfrm>
            <a:off x="7863840" y="4937760"/>
            <a:ext cx="3566160"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Buried</a:t>
            </a:r>
            <a:endParaRPr lang="en-US" sz="2400" dirty="0"/>
          </a:p>
        </p:txBody>
      </p:sp>
      <p:sp>
        <p:nvSpPr>
          <p:cNvPr id="17" name="Text 15"/>
          <p:cNvSpPr txBox="1"/>
          <p:nvPr/>
        </p:nvSpPr>
        <p:spPr>
          <a:xfrm>
            <a:off x="7863840" y="5468112"/>
            <a:ext cx="3566160" cy="548640"/>
          </a:xfrm>
          <a:prstGeom prst="rect">
            <a:avLst/>
          </a:prstGeom>
          <a:noFill/>
          <a:ln/>
        </p:spPr>
        <p:txBody>
          <a:bodyPr wrap="square" lIns="0" tIns="0" rIns="0" bIns="0" rtlCol="0" anchor="ctr"/>
          <a:lstStyle/>
          <a:p>
            <a:pPr indent="0" marL="0">
              <a:lnSpc>
                <a:spcPct val="110000"/>
              </a:lnSpc>
              <a:buNone/>
            </a:pPr>
            <a:r>
              <a:rPr lang="en-US" sz="1150" dirty="0">
                <a:solidFill>
                  <a:srgbClr val="D7EFEC"/>
                </a:solidFill>
                <a:latin typeface="Calibri" pitchFamily="34" charset="0"/>
                <a:ea typeface="Calibri" pitchFamily="34" charset="-122"/>
                <a:cs typeface="Calibri" pitchFamily="34" charset="-120"/>
              </a:rPr>
              <a:t>Key complaints get</a:t>
            </a:r>
            <a:endParaRPr lang="en-US" sz="1150" dirty="0"/>
          </a:p>
          <a:p>
            <a:pPr indent="0" marL="0">
              <a:lnSpc>
                <a:spcPct val="110000"/>
              </a:lnSpc>
              <a:buNone/>
            </a:pPr>
            <a:r>
              <a:rPr lang="en-US" sz="1150" dirty="0">
                <a:solidFill>
                  <a:srgbClr val="D7EFEC"/>
                </a:solidFill>
                <a:latin typeface="Calibri" pitchFamily="34" charset="0"/>
                <a:ea typeface="Calibri" pitchFamily="34" charset="-122"/>
                <a:cs typeface="Calibri" pitchFamily="34" charset="-120"/>
              </a:rPr>
              <a:t>lost in free text</a:t>
            </a:r>
            <a:endParaRPr lang="en-US" sz="1150" dirty="0"/>
          </a:p>
        </p:txBody>
      </p:sp>
      <p:sp>
        <p:nvSpPr>
          <p:cNvPr id="18" name="Text 1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19" name="Text 1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GOALS</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691640"/>
            <a:ext cx="5440680" cy="2148840"/>
          </a:xfrm>
          <a:prstGeom prst="roundRect">
            <a:avLst>
              <a:gd name="adj" fmla="val 4255"/>
            </a:avLst>
          </a:prstGeom>
          <a:solidFill>
            <a:srgbClr val="F4FAF9"/>
          </a:solidFill>
          <a:ln/>
        </p:spPr>
      </p:sp>
      <p:sp>
        <p:nvSpPr>
          <p:cNvPr id="5" name="Shape 3"/>
          <p:cNvSpPr/>
          <p:nvPr/>
        </p:nvSpPr>
        <p:spPr>
          <a:xfrm>
            <a:off x="822960" y="1965960"/>
            <a:ext cx="640080" cy="640080"/>
          </a:xfrm>
          <a:prstGeom prst="ellipse">
            <a:avLst/>
          </a:prstGeom>
          <a:solidFill>
            <a:srgbClr val="028090"/>
          </a:solidFill>
          <a:ln/>
        </p:spPr>
      </p:sp>
      <p:sp>
        <p:nvSpPr>
          <p:cNvPr id="6" name="Text 4"/>
          <p:cNvSpPr txBox="1"/>
          <p:nvPr/>
        </p:nvSpPr>
        <p:spPr>
          <a:xfrm>
            <a:off x="822960" y="19659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7" name="Text 5"/>
          <p:cNvSpPr txBox="1"/>
          <p:nvPr/>
        </p:nvSpPr>
        <p:spPr>
          <a:xfrm>
            <a:off x="1645920" y="1947672"/>
            <a:ext cx="4069080" cy="411480"/>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Secure Login</a:t>
            </a:r>
            <a:endParaRPr lang="en-US" sz="1600" dirty="0"/>
          </a:p>
        </p:txBody>
      </p:sp>
      <p:sp>
        <p:nvSpPr>
          <p:cNvPr id="8" name="Text 6"/>
          <p:cNvSpPr txBox="1"/>
          <p:nvPr/>
        </p:nvSpPr>
        <p:spPr>
          <a:xfrm>
            <a:off x="1645920" y="2404872"/>
            <a:ext cx="4069080" cy="1280160"/>
          </a:xfrm>
          <a:prstGeom prst="rect">
            <a:avLst/>
          </a:prstGeom>
          <a:noFill/>
          <a:ln/>
        </p:spPr>
        <p:txBody>
          <a:bodyPr wrap="square" lIns="0" tIns="0" rIns="0" bIns="0" rtlCol="0" anchor="ctr"/>
          <a:lstStyle/>
          <a:p>
            <a:pPr indent="0" marL="0">
              <a:lnSpc>
                <a:spcPct val="125000"/>
              </a:lnSpc>
              <a:buNone/>
            </a:pPr>
            <a:r>
              <a:rPr lang="en-US" sz="1250" dirty="0">
                <a:solidFill>
                  <a:srgbClr val="5F7375"/>
                </a:solidFill>
                <a:latin typeface="Calibri" pitchFamily="34" charset="0"/>
                <a:ea typeface="Calibri" pitchFamily="34" charset="-122"/>
                <a:cs typeface="Calibri" pitchFamily="34" charset="-120"/>
              </a:rPr>
              <a:t>Design a secure login page so only registered students can access the feedback form.</a:t>
            </a:r>
            <a:endParaRPr lang="en-US" sz="1250" dirty="0"/>
          </a:p>
        </p:txBody>
      </p:sp>
      <p:sp>
        <p:nvSpPr>
          <p:cNvPr id="9" name="Shape 7"/>
          <p:cNvSpPr/>
          <p:nvPr/>
        </p:nvSpPr>
        <p:spPr>
          <a:xfrm>
            <a:off x="6355080" y="1691640"/>
            <a:ext cx="5440680" cy="2148840"/>
          </a:xfrm>
          <a:prstGeom prst="roundRect">
            <a:avLst>
              <a:gd name="adj" fmla="val 4255"/>
            </a:avLst>
          </a:prstGeom>
          <a:solidFill>
            <a:srgbClr val="F4FAF9"/>
          </a:solidFill>
          <a:ln/>
        </p:spPr>
      </p:sp>
      <p:sp>
        <p:nvSpPr>
          <p:cNvPr id="10" name="Shape 8"/>
          <p:cNvSpPr/>
          <p:nvPr/>
        </p:nvSpPr>
        <p:spPr>
          <a:xfrm>
            <a:off x="6629400" y="1965960"/>
            <a:ext cx="640080" cy="640080"/>
          </a:xfrm>
          <a:prstGeom prst="ellipse">
            <a:avLst/>
          </a:prstGeom>
          <a:solidFill>
            <a:srgbClr val="00A896"/>
          </a:solidFill>
          <a:ln/>
        </p:spPr>
      </p:sp>
      <p:sp>
        <p:nvSpPr>
          <p:cNvPr id="11" name="Text 9"/>
          <p:cNvSpPr txBox="1"/>
          <p:nvPr/>
        </p:nvSpPr>
        <p:spPr>
          <a:xfrm>
            <a:off x="6629400" y="19659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2" name="Text 10"/>
          <p:cNvSpPr txBox="1"/>
          <p:nvPr/>
        </p:nvSpPr>
        <p:spPr>
          <a:xfrm>
            <a:off x="7452360" y="1947672"/>
            <a:ext cx="4069080" cy="411480"/>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Feedback Capture</a:t>
            </a:r>
            <a:endParaRPr lang="en-US" sz="1600" dirty="0"/>
          </a:p>
        </p:txBody>
      </p:sp>
      <p:sp>
        <p:nvSpPr>
          <p:cNvPr id="13" name="Text 11"/>
          <p:cNvSpPr txBox="1"/>
          <p:nvPr/>
        </p:nvSpPr>
        <p:spPr>
          <a:xfrm>
            <a:off x="7452360" y="2404872"/>
            <a:ext cx="4069080" cy="1280160"/>
          </a:xfrm>
          <a:prstGeom prst="rect">
            <a:avLst/>
          </a:prstGeom>
          <a:noFill/>
          <a:ln/>
        </p:spPr>
        <p:txBody>
          <a:bodyPr wrap="square" lIns="0" tIns="0" rIns="0" bIns="0" rtlCol="0" anchor="ctr"/>
          <a:lstStyle/>
          <a:p>
            <a:pPr indent="0" marL="0">
              <a:lnSpc>
                <a:spcPct val="125000"/>
              </a:lnSpc>
              <a:buNone/>
            </a:pPr>
            <a:r>
              <a:rPr lang="en-US" sz="1250" dirty="0">
                <a:solidFill>
                  <a:srgbClr val="5F7375"/>
                </a:solidFill>
                <a:latin typeface="Calibri" pitchFamily="34" charset="0"/>
                <a:ea typeface="Calibri" pitchFamily="34" charset="-122"/>
                <a:cs typeface="Calibri" pitchFamily="34" charset="-120"/>
              </a:rPr>
              <a:t>Build a submission module that captures structured ratings and free-text comments.</a:t>
            </a:r>
            <a:endParaRPr lang="en-US" sz="1250" dirty="0"/>
          </a:p>
        </p:txBody>
      </p:sp>
      <p:sp>
        <p:nvSpPr>
          <p:cNvPr id="14" name="Shape 12"/>
          <p:cNvSpPr/>
          <p:nvPr/>
        </p:nvSpPr>
        <p:spPr>
          <a:xfrm>
            <a:off x="548640" y="4206240"/>
            <a:ext cx="5440680" cy="2148840"/>
          </a:xfrm>
          <a:prstGeom prst="roundRect">
            <a:avLst>
              <a:gd name="adj" fmla="val 4255"/>
            </a:avLst>
          </a:prstGeom>
          <a:solidFill>
            <a:srgbClr val="F4FAF9"/>
          </a:solidFill>
          <a:ln/>
        </p:spPr>
      </p:sp>
      <p:sp>
        <p:nvSpPr>
          <p:cNvPr id="15" name="Shape 13"/>
          <p:cNvSpPr/>
          <p:nvPr/>
        </p:nvSpPr>
        <p:spPr>
          <a:xfrm>
            <a:off x="822960" y="4480560"/>
            <a:ext cx="640080" cy="640080"/>
          </a:xfrm>
          <a:prstGeom prst="ellipse">
            <a:avLst/>
          </a:prstGeom>
          <a:solidFill>
            <a:srgbClr val="02C39A"/>
          </a:solidFill>
          <a:ln/>
        </p:spPr>
      </p:sp>
      <p:sp>
        <p:nvSpPr>
          <p:cNvPr id="16" name="Text 14"/>
          <p:cNvSpPr txBox="1"/>
          <p:nvPr/>
        </p:nvSpPr>
        <p:spPr>
          <a:xfrm>
            <a:off x="822960" y="44805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7" name="Text 15"/>
          <p:cNvSpPr txBox="1"/>
          <p:nvPr/>
        </p:nvSpPr>
        <p:spPr>
          <a:xfrm>
            <a:off x="1645920" y="4462272"/>
            <a:ext cx="4069080" cy="411480"/>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Sentiment Analysis</a:t>
            </a:r>
            <a:endParaRPr lang="en-US" sz="1600" dirty="0"/>
          </a:p>
        </p:txBody>
      </p:sp>
      <p:sp>
        <p:nvSpPr>
          <p:cNvPr id="18" name="Text 16"/>
          <p:cNvSpPr txBox="1"/>
          <p:nvPr/>
        </p:nvSpPr>
        <p:spPr>
          <a:xfrm>
            <a:off x="1645920" y="4919472"/>
            <a:ext cx="4069080" cy="1280160"/>
          </a:xfrm>
          <a:prstGeom prst="rect">
            <a:avLst/>
          </a:prstGeom>
          <a:noFill/>
          <a:ln/>
        </p:spPr>
        <p:txBody>
          <a:bodyPr wrap="square" lIns="0" tIns="0" rIns="0" bIns="0" rtlCol="0" anchor="ctr"/>
          <a:lstStyle/>
          <a:p>
            <a:pPr indent="0" marL="0">
              <a:lnSpc>
                <a:spcPct val="125000"/>
              </a:lnSpc>
              <a:buNone/>
            </a:pPr>
            <a:r>
              <a:rPr lang="en-US" sz="1250" dirty="0">
                <a:solidFill>
                  <a:srgbClr val="5F7375"/>
                </a:solidFill>
                <a:latin typeface="Calibri" pitchFamily="34" charset="0"/>
                <a:ea typeface="Calibri" pitchFamily="34" charset="-122"/>
                <a:cs typeface="Calibri" pitchFamily="34" charset="-120"/>
              </a:rPr>
              <a:t>Apply NLP techniques to automatically classify the textual feedback.</a:t>
            </a:r>
            <a:endParaRPr lang="en-US" sz="1250" dirty="0"/>
          </a:p>
        </p:txBody>
      </p:sp>
      <p:sp>
        <p:nvSpPr>
          <p:cNvPr id="19" name="Shape 17"/>
          <p:cNvSpPr/>
          <p:nvPr/>
        </p:nvSpPr>
        <p:spPr>
          <a:xfrm>
            <a:off x="6355080" y="4206240"/>
            <a:ext cx="5440680" cy="2148840"/>
          </a:xfrm>
          <a:prstGeom prst="roundRect">
            <a:avLst>
              <a:gd name="adj" fmla="val 4255"/>
            </a:avLst>
          </a:prstGeom>
          <a:solidFill>
            <a:srgbClr val="F4FAF9"/>
          </a:solidFill>
          <a:ln/>
        </p:spPr>
      </p:sp>
      <p:sp>
        <p:nvSpPr>
          <p:cNvPr id="20" name="Shape 18"/>
          <p:cNvSpPr/>
          <p:nvPr/>
        </p:nvSpPr>
        <p:spPr>
          <a:xfrm>
            <a:off x="6629400" y="4480560"/>
            <a:ext cx="640080" cy="640080"/>
          </a:xfrm>
          <a:prstGeom prst="ellipse">
            <a:avLst/>
          </a:prstGeom>
          <a:solidFill>
            <a:srgbClr val="028090"/>
          </a:solidFill>
          <a:ln/>
        </p:spPr>
      </p:sp>
      <p:sp>
        <p:nvSpPr>
          <p:cNvPr id="21" name="Text 19"/>
          <p:cNvSpPr txBox="1"/>
          <p:nvPr/>
        </p:nvSpPr>
        <p:spPr>
          <a:xfrm>
            <a:off x="6629400" y="44805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22" name="Text 20"/>
          <p:cNvSpPr txBox="1"/>
          <p:nvPr/>
        </p:nvSpPr>
        <p:spPr>
          <a:xfrm>
            <a:off x="7452360" y="4462272"/>
            <a:ext cx="4069080" cy="411480"/>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Dashboard Reporting</a:t>
            </a:r>
            <a:endParaRPr lang="en-US" sz="1600" dirty="0"/>
          </a:p>
        </p:txBody>
      </p:sp>
      <p:sp>
        <p:nvSpPr>
          <p:cNvPr id="23" name="Text 21"/>
          <p:cNvSpPr txBox="1"/>
          <p:nvPr/>
        </p:nvSpPr>
        <p:spPr>
          <a:xfrm>
            <a:off x="7452360" y="4919472"/>
            <a:ext cx="4069080" cy="1280160"/>
          </a:xfrm>
          <a:prstGeom prst="rect">
            <a:avLst/>
          </a:prstGeom>
          <a:noFill/>
          <a:ln/>
        </p:spPr>
        <p:txBody>
          <a:bodyPr wrap="square" lIns="0" tIns="0" rIns="0" bIns="0" rtlCol="0" anchor="ctr"/>
          <a:lstStyle/>
          <a:p>
            <a:pPr indent="0" marL="0">
              <a:lnSpc>
                <a:spcPct val="125000"/>
              </a:lnSpc>
              <a:buNone/>
            </a:pPr>
            <a:r>
              <a:rPr lang="en-US" sz="1250" dirty="0">
                <a:solidFill>
                  <a:srgbClr val="5F7375"/>
                </a:solidFill>
                <a:latin typeface="Calibri" pitchFamily="34" charset="0"/>
                <a:ea typeface="Calibri" pitchFamily="34" charset="-122"/>
                <a:cs typeface="Calibri" pitchFamily="34" charset="-120"/>
              </a:rPr>
              <a:t>Present analyzed results with charts and summary statistics for quick interpretation.</a:t>
            </a:r>
            <a:endParaRPr lang="en-US" sz="1250" dirty="0"/>
          </a:p>
        </p:txBody>
      </p:sp>
      <p:sp>
        <p:nvSpPr>
          <p:cNvPr id="24" name="Text 2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25" name="Text 23"/>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875520" y="4206240"/>
            <a:ext cx="3657600" cy="3657600"/>
          </a:xfrm>
          <a:prstGeom prst="ellipse">
            <a:avLst/>
          </a:prstGeom>
          <a:solidFill>
            <a:srgbClr val="028090">
              <a:alpha val="45000"/>
            </a:srgbClr>
          </a:solidFill>
          <a:ln/>
        </p:spPr>
      </p:sp>
      <p:sp>
        <p:nvSpPr>
          <p:cNvPr id="3" name="Text 1"/>
          <p:cNvSpPr txBox="1"/>
          <p:nvPr/>
        </p:nvSpPr>
        <p:spPr>
          <a:xfrm>
            <a:off x="548640" y="457200"/>
            <a:ext cx="5486400" cy="32004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SCOPE</a:t>
            </a:r>
            <a:endParaRPr lang="en-US" sz="1200" dirty="0"/>
          </a:p>
        </p:txBody>
      </p:sp>
      <p:sp>
        <p:nvSpPr>
          <p:cNvPr id="4" name="Text 2"/>
          <p:cNvSpPr txBox="1"/>
          <p:nvPr/>
        </p:nvSpPr>
        <p:spPr>
          <a:xfrm>
            <a:off x="548640" y="713232"/>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Scope of the Project</a:t>
            </a:r>
            <a:endParaRPr lang="en-US" sz="3000" dirty="0"/>
          </a:p>
        </p:txBody>
      </p:sp>
      <p:sp>
        <p:nvSpPr>
          <p:cNvPr id="5" name="Text 3"/>
          <p:cNvSpPr txBox="1"/>
          <p:nvPr/>
        </p:nvSpPr>
        <p:spPr>
          <a:xfrm>
            <a:off x="548640" y="1600200"/>
            <a:ext cx="6583680" cy="1554480"/>
          </a:xfrm>
          <a:prstGeom prst="rect">
            <a:avLst/>
          </a:prstGeom>
          <a:noFill/>
          <a:ln/>
        </p:spPr>
        <p:txBody>
          <a:bodyPr wrap="square" lIns="0" tIns="0" rIns="0" bIns="0" rtlCol="0" anchor="ctr"/>
          <a:lstStyle/>
          <a:p>
            <a:pPr indent="0" marL="0">
              <a:lnSpc>
                <a:spcPct val="130000"/>
              </a:lnSpc>
              <a:buNone/>
            </a:pPr>
            <a:r>
              <a:rPr lang="en-US" sz="1500" dirty="0">
                <a:solidFill>
                  <a:srgbClr val="D7EFEC"/>
                </a:solidFill>
                <a:latin typeface="Calibri" pitchFamily="34" charset="0"/>
                <a:ea typeface="Calibri" pitchFamily="34" charset="-122"/>
                <a:cs typeface="Calibri" pitchFamily="34" charset="-120"/>
              </a:rPr>
              <a:t>The current build covers student login/authentication, course-wise feedback collection (ratings + comments), automated sentiment classification of the text, and visualization of aggregated results on a dashboard — for use within a single institution.</a:t>
            </a:r>
            <a:endParaRPr lang="en-US" sz="1500" dirty="0"/>
          </a:p>
        </p:txBody>
      </p:sp>
      <p:sp>
        <p:nvSpPr>
          <p:cNvPr id="6" name="Text 4"/>
          <p:cNvSpPr txBox="1"/>
          <p:nvPr/>
        </p:nvSpPr>
        <p:spPr>
          <a:xfrm>
            <a:off x="548640" y="3246120"/>
            <a:ext cx="3657600" cy="32004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In scope now</a:t>
            </a:r>
            <a:endParaRPr lang="en-US" sz="1300" dirty="0"/>
          </a:p>
        </p:txBody>
      </p:sp>
      <p:sp>
        <p:nvSpPr>
          <p:cNvPr id="7" name="Shape 5"/>
          <p:cNvSpPr/>
          <p:nvPr/>
        </p:nvSpPr>
        <p:spPr>
          <a:xfrm>
            <a:off x="548640" y="3666744"/>
            <a:ext cx="128016" cy="128016"/>
          </a:xfrm>
          <a:prstGeom prst="ellipse">
            <a:avLst/>
          </a:prstGeom>
          <a:solidFill>
            <a:srgbClr val="02C39A"/>
          </a:solidFill>
          <a:ln/>
        </p:spPr>
      </p:sp>
      <p:sp>
        <p:nvSpPr>
          <p:cNvPr id="8" name="Text 6"/>
          <p:cNvSpPr txBox="1"/>
          <p:nvPr/>
        </p:nvSpPr>
        <p:spPr>
          <a:xfrm>
            <a:off x="822960" y="3611880"/>
            <a:ext cx="6126480" cy="3200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 login &amp; authentication</a:t>
            </a:r>
            <a:endParaRPr lang="en-US" sz="1350" dirty="0"/>
          </a:p>
        </p:txBody>
      </p:sp>
      <p:sp>
        <p:nvSpPr>
          <p:cNvPr id="9" name="Shape 7"/>
          <p:cNvSpPr/>
          <p:nvPr/>
        </p:nvSpPr>
        <p:spPr>
          <a:xfrm>
            <a:off x="548640" y="4087368"/>
            <a:ext cx="128016" cy="128016"/>
          </a:xfrm>
          <a:prstGeom prst="ellipse">
            <a:avLst/>
          </a:prstGeom>
          <a:solidFill>
            <a:srgbClr val="02C39A"/>
          </a:solidFill>
          <a:ln/>
        </p:spPr>
      </p:sp>
      <p:sp>
        <p:nvSpPr>
          <p:cNvPr id="10" name="Text 8"/>
          <p:cNvSpPr txBox="1"/>
          <p:nvPr/>
        </p:nvSpPr>
        <p:spPr>
          <a:xfrm>
            <a:off x="822960" y="4032504"/>
            <a:ext cx="6126480" cy="3200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Course-wise ratings + free-text comments</a:t>
            </a:r>
            <a:endParaRPr lang="en-US" sz="1350" dirty="0"/>
          </a:p>
        </p:txBody>
      </p:sp>
      <p:sp>
        <p:nvSpPr>
          <p:cNvPr id="11" name="Shape 9"/>
          <p:cNvSpPr/>
          <p:nvPr/>
        </p:nvSpPr>
        <p:spPr>
          <a:xfrm>
            <a:off x="548640" y="4507992"/>
            <a:ext cx="128016" cy="128016"/>
          </a:xfrm>
          <a:prstGeom prst="ellipse">
            <a:avLst/>
          </a:prstGeom>
          <a:solidFill>
            <a:srgbClr val="02C39A"/>
          </a:solidFill>
          <a:ln/>
        </p:spPr>
      </p:sp>
      <p:sp>
        <p:nvSpPr>
          <p:cNvPr id="12" name="Text 10"/>
          <p:cNvSpPr txBox="1"/>
          <p:nvPr/>
        </p:nvSpPr>
        <p:spPr>
          <a:xfrm>
            <a:off x="822960" y="4453128"/>
            <a:ext cx="6126480" cy="3200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Automated sentiment classification</a:t>
            </a:r>
            <a:endParaRPr lang="en-US" sz="1350" dirty="0"/>
          </a:p>
        </p:txBody>
      </p:sp>
      <p:sp>
        <p:nvSpPr>
          <p:cNvPr id="13" name="Shape 11"/>
          <p:cNvSpPr/>
          <p:nvPr/>
        </p:nvSpPr>
        <p:spPr>
          <a:xfrm>
            <a:off x="548640" y="4928616"/>
            <a:ext cx="128016" cy="128016"/>
          </a:xfrm>
          <a:prstGeom prst="ellipse">
            <a:avLst/>
          </a:prstGeom>
          <a:solidFill>
            <a:srgbClr val="02C39A"/>
          </a:solidFill>
          <a:ln/>
        </p:spPr>
      </p:sp>
      <p:sp>
        <p:nvSpPr>
          <p:cNvPr id="14" name="Text 12"/>
          <p:cNvSpPr txBox="1"/>
          <p:nvPr/>
        </p:nvSpPr>
        <p:spPr>
          <a:xfrm>
            <a:off x="822960" y="4873752"/>
            <a:ext cx="6126480" cy="3200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Aggregated dashboard visualization</a:t>
            </a:r>
            <a:endParaRPr lang="en-US" sz="1350" dirty="0"/>
          </a:p>
        </p:txBody>
      </p:sp>
      <p:sp>
        <p:nvSpPr>
          <p:cNvPr id="15" name="Text 13"/>
          <p:cNvSpPr txBox="1"/>
          <p:nvPr/>
        </p:nvSpPr>
        <p:spPr>
          <a:xfrm>
            <a:off x="7406640" y="3246120"/>
            <a:ext cx="3657600" cy="32004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Future extensions</a:t>
            </a:r>
            <a:endParaRPr lang="en-US" sz="1300" dirty="0"/>
          </a:p>
        </p:txBody>
      </p:sp>
      <p:sp>
        <p:nvSpPr>
          <p:cNvPr id="16" name="Shape 14"/>
          <p:cNvSpPr/>
          <p:nvPr/>
        </p:nvSpPr>
        <p:spPr>
          <a:xfrm>
            <a:off x="7406640" y="3666744"/>
            <a:ext cx="128016" cy="128016"/>
          </a:xfrm>
          <a:prstGeom prst="ellipse">
            <a:avLst/>
          </a:prstGeom>
          <a:solidFill>
            <a:srgbClr val="00A896"/>
          </a:solidFill>
          <a:ln/>
        </p:spPr>
      </p:sp>
      <p:sp>
        <p:nvSpPr>
          <p:cNvPr id="17" name="Text 15"/>
          <p:cNvSpPr txBox="1"/>
          <p:nvPr/>
        </p:nvSpPr>
        <p:spPr>
          <a:xfrm>
            <a:off x="7680960" y="3611880"/>
            <a:ext cx="3931920" cy="320040"/>
          </a:xfrm>
          <a:prstGeom prst="rect">
            <a:avLst/>
          </a:prstGeom>
          <a:noFill/>
          <a:ln/>
        </p:spPr>
        <p:txBody>
          <a:bodyPr wrap="square" lIns="0" tIns="0" rIns="0" bIns="0" rtlCol="0" anchor="ctr"/>
          <a:lstStyle/>
          <a:p>
            <a:pPr indent="0" marL="0">
              <a:buNone/>
            </a:pPr>
            <a:r>
              <a:rPr lang="en-US" sz="1350" dirty="0">
                <a:solidFill>
                  <a:srgbClr val="CFEAE6"/>
                </a:solidFill>
                <a:latin typeface="Calibri" pitchFamily="34" charset="0"/>
                <a:ea typeface="Calibri" pitchFamily="34" charset="-122"/>
                <a:cs typeface="Calibri" pitchFamily="34" charset="-120"/>
              </a:rPr>
              <a:t>Multiple departments</a:t>
            </a:r>
            <a:endParaRPr lang="en-US" sz="1350" dirty="0"/>
          </a:p>
        </p:txBody>
      </p:sp>
      <p:sp>
        <p:nvSpPr>
          <p:cNvPr id="18" name="Shape 16"/>
          <p:cNvSpPr/>
          <p:nvPr/>
        </p:nvSpPr>
        <p:spPr>
          <a:xfrm>
            <a:off x="7406640" y="4087368"/>
            <a:ext cx="128016" cy="128016"/>
          </a:xfrm>
          <a:prstGeom prst="ellipse">
            <a:avLst/>
          </a:prstGeom>
          <a:solidFill>
            <a:srgbClr val="00A896"/>
          </a:solidFill>
          <a:ln/>
        </p:spPr>
      </p:sp>
      <p:sp>
        <p:nvSpPr>
          <p:cNvPr id="19" name="Text 17"/>
          <p:cNvSpPr txBox="1"/>
          <p:nvPr/>
        </p:nvSpPr>
        <p:spPr>
          <a:xfrm>
            <a:off x="7680960" y="4032504"/>
            <a:ext cx="3931920" cy="320040"/>
          </a:xfrm>
          <a:prstGeom prst="rect">
            <a:avLst/>
          </a:prstGeom>
          <a:noFill/>
          <a:ln/>
        </p:spPr>
        <p:txBody>
          <a:bodyPr wrap="square" lIns="0" tIns="0" rIns="0" bIns="0" rtlCol="0" anchor="ctr"/>
          <a:lstStyle/>
          <a:p>
            <a:pPr indent="0" marL="0">
              <a:buNone/>
            </a:pPr>
            <a:r>
              <a:rPr lang="en-US" sz="1350" dirty="0">
                <a:solidFill>
                  <a:srgbClr val="CFEAE6"/>
                </a:solidFill>
                <a:latin typeface="Calibri" pitchFamily="34" charset="0"/>
                <a:ea typeface="Calibri" pitchFamily="34" charset="-122"/>
                <a:cs typeface="Calibri" pitchFamily="34" charset="-120"/>
              </a:rPr>
              <a:t>Multilingual feedback support</a:t>
            </a:r>
            <a:endParaRPr lang="en-US" sz="1350" dirty="0"/>
          </a:p>
        </p:txBody>
      </p:sp>
      <p:sp>
        <p:nvSpPr>
          <p:cNvPr id="20" name="Shape 18"/>
          <p:cNvSpPr/>
          <p:nvPr/>
        </p:nvSpPr>
        <p:spPr>
          <a:xfrm>
            <a:off x="7406640" y="4507992"/>
            <a:ext cx="128016" cy="128016"/>
          </a:xfrm>
          <a:prstGeom prst="ellipse">
            <a:avLst/>
          </a:prstGeom>
          <a:solidFill>
            <a:srgbClr val="00A896"/>
          </a:solidFill>
          <a:ln/>
        </p:spPr>
      </p:sp>
      <p:sp>
        <p:nvSpPr>
          <p:cNvPr id="21" name="Text 19"/>
          <p:cNvSpPr txBox="1"/>
          <p:nvPr/>
        </p:nvSpPr>
        <p:spPr>
          <a:xfrm>
            <a:off x="7680960" y="4453128"/>
            <a:ext cx="3931920" cy="320040"/>
          </a:xfrm>
          <a:prstGeom prst="rect">
            <a:avLst/>
          </a:prstGeom>
          <a:noFill/>
          <a:ln/>
        </p:spPr>
        <p:txBody>
          <a:bodyPr wrap="square" lIns="0" tIns="0" rIns="0" bIns="0" rtlCol="0" anchor="ctr"/>
          <a:lstStyle/>
          <a:p>
            <a:pPr indent="0" marL="0">
              <a:buNone/>
            </a:pPr>
            <a:r>
              <a:rPr lang="en-US" sz="1350" dirty="0">
                <a:solidFill>
                  <a:srgbClr val="CFEAE6"/>
                </a:solidFill>
                <a:latin typeface="Calibri" pitchFamily="34" charset="0"/>
                <a:ea typeface="Calibri" pitchFamily="34" charset="-122"/>
                <a:cs typeface="Calibri" pitchFamily="34" charset="-120"/>
              </a:rPr>
              <a:t>Real-time analytics</a:t>
            </a:r>
            <a:endParaRPr lang="en-US" sz="1350" dirty="0"/>
          </a:p>
        </p:txBody>
      </p:sp>
      <p:sp>
        <p:nvSpPr>
          <p:cNvPr id="22" name="Text 20"/>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23" name="Text 21"/>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TECH STACK</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Technologies &amp; Tools Used</a:t>
            </a:r>
            <a:endParaRPr lang="en-US" sz="3000" dirty="0"/>
          </a:p>
        </p:txBody>
      </p:sp>
      <p:sp>
        <p:nvSpPr>
          <p:cNvPr id="4" name="Shape 2"/>
          <p:cNvSpPr/>
          <p:nvPr/>
        </p:nvSpPr>
        <p:spPr>
          <a:xfrm>
            <a:off x="548640" y="1691640"/>
            <a:ext cx="3639312" cy="2148840"/>
          </a:xfrm>
          <a:prstGeom prst="roundRect">
            <a:avLst>
              <a:gd name="adj" fmla="val 4255"/>
            </a:avLst>
          </a:prstGeom>
          <a:solidFill>
            <a:srgbClr val="F4FAF9"/>
          </a:solidFill>
          <a:ln/>
        </p:spPr>
      </p:sp>
      <p:sp>
        <p:nvSpPr>
          <p:cNvPr id="5" name="Shape 3"/>
          <p:cNvSpPr/>
          <p:nvPr/>
        </p:nvSpPr>
        <p:spPr>
          <a:xfrm>
            <a:off x="822960" y="1965960"/>
            <a:ext cx="384048" cy="384048"/>
          </a:xfrm>
          <a:prstGeom prst="ellipse">
            <a:avLst/>
          </a:prstGeom>
          <a:solidFill>
            <a:srgbClr val="028090"/>
          </a:solidFill>
          <a:ln/>
        </p:spPr>
      </p:sp>
      <p:sp>
        <p:nvSpPr>
          <p:cNvPr id="6" name="Text 4"/>
          <p:cNvSpPr txBox="1"/>
          <p:nvPr/>
        </p:nvSpPr>
        <p:spPr>
          <a:xfrm>
            <a:off x="1371600" y="1947672"/>
            <a:ext cx="2542032" cy="420624"/>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Frontend</a:t>
            </a:r>
            <a:endParaRPr lang="en-US" sz="1600" dirty="0"/>
          </a:p>
        </p:txBody>
      </p:sp>
      <p:sp>
        <p:nvSpPr>
          <p:cNvPr id="7" name="Text 5"/>
          <p:cNvSpPr txBox="1"/>
          <p:nvPr/>
        </p:nvSpPr>
        <p:spPr>
          <a:xfrm>
            <a:off x="822960" y="2560320"/>
            <a:ext cx="3090672" cy="1143000"/>
          </a:xfrm>
          <a:prstGeom prst="rect">
            <a:avLst/>
          </a:prstGeom>
          <a:noFill/>
          <a:ln/>
        </p:spPr>
        <p:txBody>
          <a:bodyPr wrap="square" lIns="0" tIns="0" rIns="0" bIns="0" rtlCol="0" anchor="ctr"/>
          <a:lstStyle/>
          <a:p>
            <a:pPr indent="0" marL="0">
              <a:lnSpc>
                <a:spcPct val="125000"/>
              </a:lnSpc>
              <a:buNone/>
            </a:pPr>
            <a:r>
              <a:rPr lang="en-US" sz="1200" dirty="0">
                <a:solidFill>
                  <a:srgbClr val="5F7375"/>
                </a:solidFill>
                <a:latin typeface="Calibri" pitchFamily="34" charset="0"/>
                <a:ea typeface="Calibri" pitchFamily="34" charset="-122"/>
                <a:cs typeface="Calibri" pitchFamily="34" charset="-120"/>
              </a:rPr>
              <a:t>HTML5, CSS3, JavaScript — login page and feedback form UI</a:t>
            </a:r>
            <a:endParaRPr lang="en-US" sz="1200" dirty="0"/>
          </a:p>
        </p:txBody>
      </p:sp>
      <p:sp>
        <p:nvSpPr>
          <p:cNvPr id="8" name="Shape 6"/>
          <p:cNvSpPr/>
          <p:nvPr/>
        </p:nvSpPr>
        <p:spPr>
          <a:xfrm>
            <a:off x="4443984" y="1691640"/>
            <a:ext cx="3639312" cy="2148840"/>
          </a:xfrm>
          <a:prstGeom prst="roundRect">
            <a:avLst>
              <a:gd name="adj" fmla="val 4255"/>
            </a:avLst>
          </a:prstGeom>
          <a:solidFill>
            <a:srgbClr val="F4FAF9"/>
          </a:solidFill>
          <a:ln/>
        </p:spPr>
      </p:sp>
      <p:sp>
        <p:nvSpPr>
          <p:cNvPr id="9" name="Shape 7"/>
          <p:cNvSpPr/>
          <p:nvPr/>
        </p:nvSpPr>
        <p:spPr>
          <a:xfrm>
            <a:off x="4718304" y="1965960"/>
            <a:ext cx="384048" cy="384048"/>
          </a:xfrm>
          <a:prstGeom prst="ellipse">
            <a:avLst/>
          </a:prstGeom>
          <a:solidFill>
            <a:srgbClr val="00A896"/>
          </a:solidFill>
          <a:ln/>
        </p:spPr>
      </p:sp>
      <p:sp>
        <p:nvSpPr>
          <p:cNvPr id="10" name="Text 8"/>
          <p:cNvSpPr txBox="1"/>
          <p:nvPr/>
        </p:nvSpPr>
        <p:spPr>
          <a:xfrm>
            <a:off x="5266944" y="1947672"/>
            <a:ext cx="2542032" cy="420624"/>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Backend</a:t>
            </a:r>
            <a:endParaRPr lang="en-US" sz="1600" dirty="0"/>
          </a:p>
        </p:txBody>
      </p:sp>
      <p:sp>
        <p:nvSpPr>
          <p:cNvPr id="11" name="Text 9"/>
          <p:cNvSpPr txBox="1"/>
          <p:nvPr/>
        </p:nvSpPr>
        <p:spPr>
          <a:xfrm>
            <a:off x="4718304" y="2560320"/>
            <a:ext cx="3090672" cy="1143000"/>
          </a:xfrm>
          <a:prstGeom prst="rect">
            <a:avLst/>
          </a:prstGeom>
          <a:noFill/>
          <a:ln/>
        </p:spPr>
        <p:txBody>
          <a:bodyPr wrap="square" lIns="0" tIns="0" rIns="0" bIns="0" rtlCol="0" anchor="ctr"/>
          <a:lstStyle/>
          <a:p>
            <a:pPr indent="0" marL="0">
              <a:lnSpc>
                <a:spcPct val="125000"/>
              </a:lnSpc>
              <a:buNone/>
            </a:pPr>
            <a:r>
              <a:rPr lang="en-US" sz="1200" dirty="0">
                <a:solidFill>
                  <a:srgbClr val="5F7375"/>
                </a:solidFill>
                <a:latin typeface="Calibri" pitchFamily="34" charset="0"/>
                <a:ea typeface="Calibri" pitchFamily="34" charset="-122"/>
                <a:cs typeface="Calibri" pitchFamily="34" charset="-120"/>
              </a:rPr>
              <a:t>Python (Flask), REST APIs</a:t>
            </a:r>
            <a:endParaRPr lang="en-US" sz="1200" dirty="0"/>
          </a:p>
        </p:txBody>
      </p:sp>
      <p:sp>
        <p:nvSpPr>
          <p:cNvPr id="12" name="Shape 10"/>
          <p:cNvSpPr/>
          <p:nvPr/>
        </p:nvSpPr>
        <p:spPr>
          <a:xfrm>
            <a:off x="8339328" y="1691640"/>
            <a:ext cx="3639312" cy="2148840"/>
          </a:xfrm>
          <a:prstGeom prst="roundRect">
            <a:avLst>
              <a:gd name="adj" fmla="val 4255"/>
            </a:avLst>
          </a:prstGeom>
          <a:solidFill>
            <a:srgbClr val="F4FAF9"/>
          </a:solidFill>
          <a:ln/>
        </p:spPr>
      </p:sp>
      <p:sp>
        <p:nvSpPr>
          <p:cNvPr id="13" name="Shape 11"/>
          <p:cNvSpPr/>
          <p:nvPr/>
        </p:nvSpPr>
        <p:spPr>
          <a:xfrm>
            <a:off x="8613648" y="1965960"/>
            <a:ext cx="384048" cy="384048"/>
          </a:xfrm>
          <a:prstGeom prst="ellipse">
            <a:avLst/>
          </a:prstGeom>
          <a:solidFill>
            <a:srgbClr val="02C39A"/>
          </a:solidFill>
          <a:ln/>
        </p:spPr>
      </p:sp>
      <p:sp>
        <p:nvSpPr>
          <p:cNvPr id="14" name="Text 12"/>
          <p:cNvSpPr txBox="1"/>
          <p:nvPr/>
        </p:nvSpPr>
        <p:spPr>
          <a:xfrm>
            <a:off x="9162288" y="1947672"/>
            <a:ext cx="2542032" cy="420624"/>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Database</a:t>
            </a:r>
            <a:endParaRPr lang="en-US" sz="1600" dirty="0"/>
          </a:p>
        </p:txBody>
      </p:sp>
      <p:sp>
        <p:nvSpPr>
          <p:cNvPr id="15" name="Text 13"/>
          <p:cNvSpPr txBox="1"/>
          <p:nvPr/>
        </p:nvSpPr>
        <p:spPr>
          <a:xfrm>
            <a:off x="8613648" y="2560320"/>
            <a:ext cx="3090672" cy="1143000"/>
          </a:xfrm>
          <a:prstGeom prst="rect">
            <a:avLst/>
          </a:prstGeom>
          <a:noFill/>
          <a:ln/>
        </p:spPr>
        <p:txBody>
          <a:bodyPr wrap="square" lIns="0" tIns="0" rIns="0" bIns="0" rtlCol="0" anchor="ctr"/>
          <a:lstStyle/>
          <a:p>
            <a:pPr indent="0" marL="0">
              <a:lnSpc>
                <a:spcPct val="125000"/>
              </a:lnSpc>
              <a:buNone/>
            </a:pPr>
            <a:r>
              <a:rPr lang="en-US" sz="1200" dirty="0">
                <a:solidFill>
                  <a:srgbClr val="5F7375"/>
                </a:solidFill>
                <a:latin typeface="Calibri" pitchFamily="34" charset="0"/>
                <a:ea typeface="Calibri" pitchFamily="34" charset="-122"/>
                <a:cs typeface="Calibri" pitchFamily="34" charset="-120"/>
              </a:rPr>
              <a:t>MySQL / SQLite — student credentials &amp; feedback records</a:t>
            </a:r>
            <a:endParaRPr lang="en-US" sz="1200" dirty="0"/>
          </a:p>
        </p:txBody>
      </p:sp>
      <p:sp>
        <p:nvSpPr>
          <p:cNvPr id="16" name="Shape 14"/>
          <p:cNvSpPr/>
          <p:nvPr/>
        </p:nvSpPr>
        <p:spPr>
          <a:xfrm>
            <a:off x="548640" y="4096512"/>
            <a:ext cx="3639312" cy="2148840"/>
          </a:xfrm>
          <a:prstGeom prst="roundRect">
            <a:avLst>
              <a:gd name="adj" fmla="val 4255"/>
            </a:avLst>
          </a:prstGeom>
          <a:solidFill>
            <a:srgbClr val="F4FAF9"/>
          </a:solidFill>
          <a:ln/>
        </p:spPr>
      </p:sp>
      <p:sp>
        <p:nvSpPr>
          <p:cNvPr id="17" name="Shape 15"/>
          <p:cNvSpPr/>
          <p:nvPr/>
        </p:nvSpPr>
        <p:spPr>
          <a:xfrm>
            <a:off x="822960" y="4370832"/>
            <a:ext cx="384048" cy="384048"/>
          </a:xfrm>
          <a:prstGeom prst="ellipse">
            <a:avLst/>
          </a:prstGeom>
          <a:solidFill>
            <a:srgbClr val="028090"/>
          </a:solidFill>
          <a:ln/>
        </p:spPr>
      </p:sp>
      <p:sp>
        <p:nvSpPr>
          <p:cNvPr id="18" name="Text 16"/>
          <p:cNvSpPr txBox="1"/>
          <p:nvPr/>
        </p:nvSpPr>
        <p:spPr>
          <a:xfrm>
            <a:off x="1371600" y="4352544"/>
            <a:ext cx="2542032" cy="420624"/>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NLP / Sentiment Engine</a:t>
            </a:r>
            <a:endParaRPr lang="en-US" sz="1600" dirty="0"/>
          </a:p>
        </p:txBody>
      </p:sp>
      <p:sp>
        <p:nvSpPr>
          <p:cNvPr id="19" name="Text 17"/>
          <p:cNvSpPr txBox="1"/>
          <p:nvPr/>
        </p:nvSpPr>
        <p:spPr>
          <a:xfrm>
            <a:off x="822960" y="4965192"/>
            <a:ext cx="3090672" cy="1143000"/>
          </a:xfrm>
          <a:prstGeom prst="rect">
            <a:avLst/>
          </a:prstGeom>
          <a:noFill/>
          <a:ln/>
        </p:spPr>
        <p:txBody>
          <a:bodyPr wrap="square" lIns="0" tIns="0" rIns="0" bIns="0" rtlCol="0" anchor="ctr"/>
          <a:lstStyle/>
          <a:p>
            <a:pPr indent="0" marL="0">
              <a:lnSpc>
                <a:spcPct val="125000"/>
              </a:lnSpc>
              <a:buNone/>
            </a:pPr>
            <a:r>
              <a:rPr lang="en-US" sz="1200" dirty="0">
                <a:solidFill>
                  <a:srgbClr val="5F7375"/>
                </a:solidFill>
                <a:latin typeface="Calibri" pitchFamily="34" charset="0"/>
                <a:ea typeface="Calibri" pitchFamily="34" charset="-122"/>
                <a:cs typeface="Calibri" pitchFamily="34" charset="-120"/>
              </a:rPr>
              <a:t>Python — NLTK / TextBlob / VADER or a fine-tuned classifier</a:t>
            </a:r>
            <a:endParaRPr lang="en-US" sz="1200" dirty="0"/>
          </a:p>
        </p:txBody>
      </p:sp>
      <p:sp>
        <p:nvSpPr>
          <p:cNvPr id="20" name="Shape 18"/>
          <p:cNvSpPr/>
          <p:nvPr/>
        </p:nvSpPr>
        <p:spPr>
          <a:xfrm>
            <a:off x="4443984" y="4096512"/>
            <a:ext cx="3639312" cy="2148840"/>
          </a:xfrm>
          <a:prstGeom prst="roundRect">
            <a:avLst>
              <a:gd name="adj" fmla="val 4255"/>
            </a:avLst>
          </a:prstGeom>
          <a:solidFill>
            <a:srgbClr val="F4FAF9"/>
          </a:solidFill>
          <a:ln/>
        </p:spPr>
      </p:sp>
      <p:sp>
        <p:nvSpPr>
          <p:cNvPr id="21" name="Shape 19"/>
          <p:cNvSpPr/>
          <p:nvPr/>
        </p:nvSpPr>
        <p:spPr>
          <a:xfrm>
            <a:off x="4718304" y="4370832"/>
            <a:ext cx="384048" cy="384048"/>
          </a:xfrm>
          <a:prstGeom prst="ellipse">
            <a:avLst/>
          </a:prstGeom>
          <a:solidFill>
            <a:srgbClr val="00A896"/>
          </a:solidFill>
          <a:ln/>
        </p:spPr>
      </p:sp>
      <p:sp>
        <p:nvSpPr>
          <p:cNvPr id="22" name="Text 20"/>
          <p:cNvSpPr txBox="1"/>
          <p:nvPr/>
        </p:nvSpPr>
        <p:spPr>
          <a:xfrm>
            <a:off x="5266944" y="4352544"/>
            <a:ext cx="2542032" cy="420624"/>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Visualization</a:t>
            </a:r>
            <a:endParaRPr lang="en-US" sz="1600" dirty="0"/>
          </a:p>
        </p:txBody>
      </p:sp>
      <p:sp>
        <p:nvSpPr>
          <p:cNvPr id="23" name="Text 21"/>
          <p:cNvSpPr txBox="1"/>
          <p:nvPr/>
        </p:nvSpPr>
        <p:spPr>
          <a:xfrm>
            <a:off x="4718304" y="4965192"/>
            <a:ext cx="3090672" cy="1143000"/>
          </a:xfrm>
          <a:prstGeom prst="rect">
            <a:avLst/>
          </a:prstGeom>
          <a:noFill/>
          <a:ln/>
        </p:spPr>
        <p:txBody>
          <a:bodyPr wrap="square" lIns="0" tIns="0" rIns="0" bIns="0" rtlCol="0" anchor="ctr"/>
          <a:lstStyle/>
          <a:p>
            <a:pPr indent="0" marL="0">
              <a:lnSpc>
                <a:spcPct val="125000"/>
              </a:lnSpc>
              <a:buNone/>
            </a:pPr>
            <a:r>
              <a:rPr lang="en-US" sz="1200" dirty="0">
                <a:solidFill>
                  <a:srgbClr val="5F7375"/>
                </a:solidFill>
                <a:latin typeface="Calibri" pitchFamily="34" charset="0"/>
                <a:ea typeface="Calibri" pitchFamily="34" charset="-122"/>
                <a:cs typeface="Calibri" pitchFamily="34" charset="-120"/>
              </a:rPr>
              <a:t>Chart.js / Plotly — graphical sentiment results</a:t>
            </a:r>
            <a:endParaRPr lang="en-US" sz="1200" dirty="0"/>
          </a:p>
        </p:txBody>
      </p:sp>
      <p:sp>
        <p:nvSpPr>
          <p:cNvPr id="24" name="Shape 22"/>
          <p:cNvSpPr/>
          <p:nvPr/>
        </p:nvSpPr>
        <p:spPr>
          <a:xfrm>
            <a:off x="8339328" y="4096512"/>
            <a:ext cx="3639312" cy="2148840"/>
          </a:xfrm>
          <a:prstGeom prst="roundRect">
            <a:avLst>
              <a:gd name="adj" fmla="val 4255"/>
            </a:avLst>
          </a:prstGeom>
          <a:solidFill>
            <a:srgbClr val="F4FAF9"/>
          </a:solidFill>
          <a:ln/>
        </p:spPr>
      </p:sp>
      <p:sp>
        <p:nvSpPr>
          <p:cNvPr id="25" name="Shape 23"/>
          <p:cNvSpPr/>
          <p:nvPr/>
        </p:nvSpPr>
        <p:spPr>
          <a:xfrm>
            <a:off x="8613648" y="4370832"/>
            <a:ext cx="384048" cy="384048"/>
          </a:xfrm>
          <a:prstGeom prst="ellipse">
            <a:avLst/>
          </a:prstGeom>
          <a:solidFill>
            <a:srgbClr val="02C39A"/>
          </a:solidFill>
          <a:ln/>
        </p:spPr>
      </p:sp>
      <p:sp>
        <p:nvSpPr>
          <p:cNvPr id="26" name="Text 24"/>
          <p:cNvSpPr txBox="1"/>
          <p:nvPr/>
        </p:nvSpPr>
        <p:spPr>
          <a:xfrm>
            <a:off x="9162288" y="4352544"/>
            <a:ext cx="2542032" cy="420624"/>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Authentication</a:t>
            </a:r>
            <a:endParaRPr lang="en-US" sz="1600" dirty="0"/>
          </a:p>
        </p:txBody>
      </p:sp>
      <p:sp>
        <p:nvSpPr>
          <p:cNvPr id="27" name="Text 25"/>
          <p:cNvSpPr txBox="1"/>
          <p:nvPr/>
        </p:nvSpPr>
        <p:spPr>
          <a:xfrm>
            <a:off x="8613648" y="4965192"/>
            <a:ext cx="3090672" cy="1143000"/>
          </a:xfrm>
          <a:prstGeom prst="rect">
            <a:avLst/>
          </a:prstGeom>
          <a:noFill/>
          <a:ln/>
        </p:spPr>
        <p:txBody>
          <a:bodyPr wrap="square" lIns="0" tIns="0" rIns="0" bIns="0" rtlCol="0" anchor="ctr"/>
          <a:lstStyle/>
          <a:p>
            <a:pPr indent="0" marL="0">
              <a:lnSpc>
                <a:spcPct val="125000"/>
              </a:lnSpc>
              <a:buNone/>
            </a:pPr>
            <a:r>
              <a:rPr lang="en-US" sz="1200" dirty="0">
                <a:solidFill>
                  <a:srgbClr val="5F7375"/>
                </a:solidFill>
                <a:latin typeface="Calibri" pitchFamily="34" charset="0"/>
                <a:ea typeface="Calibri" pitchFamily="34" charset="-122"/>
                <a:cs typeface="Calibri" pitchFamily="34" charset="-120"/>
              </a:rPr>
              <a:t>Session-based login with hashed password storage</a:t>
            </a:r>
            <a:endParaRPr lang="en-US" sz="1200" dirty="0"/>
          </a:p>
        </p:txBody>
      </p:sp>
      <p:sp>
        <p:nvSpPr>
          <p:cNvPr id="28" name="Text 2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29" name="Text 2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9"/>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PIPELINE</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System Architecture</a:t>
            </a:r>
            <a:endParaRPr lang="en-US" sz="3000" dirty="0"/>
          </a:p>
        </p:txBody>
      </p:sp>
      <p:sp>
        <p:nvSpPr>
          <p:cNvPr id="4" name="Text 2"/>
          <p:cNvSpPr txBox="1"/>
          <p:nvPr/>
        </p:nvSpPr>
        <p:spPr>
          <a:xfrm>
            <a:off x="548640" y="1417320"/>
            <a:ext cx="10515600" cy="457200"/>
          </a:xfrm>
          <a:prstGeom prst="rect">
            <a:avLst/>
          </a:prstGeom>
          <a:noFill/>
          <a:ln/>
        </p:spPr>
        <p:txBody>
          <a:bodyPr wrap="square" lIns="0" tIns="0" rIns="0" bIns="0" rtlCol="0" anchor="ctr"/>
          <a:lstStyle/>
          <a:p>
            <a:pPr indent="0" marL="0">
              <a:buNone/>
            </a:pPr>
            <a:r>
              <a:rPr lang="en-US" sz="1350" i="1" dirty="0">
                <a:solidFill>
                  <a:srgbClr val="5F7375"/>
                </a:solidFill>
                <a:latin typeface="Calibri" pitchFamily="34" charset="0"/>
                <a:ea typeface="Calibri" pitchFamily="34" charset="-122"/>
                <a:cs typeface="Calibri" pitchFamily="34" charset="-120"/>
              </a:rPr>
              <a:t>A four-stage pipeline: the student authenticates, submits feedback, responses are stored and processed, and results are rendered on the dashboard.</a:t>
            </a:r>
            <a:endParaRPr lang="en-US" sz="1350" dirty="0"/>
          </a:p>
        </p:txBody>
      </p:sp>
      <p:sp>
        <p:nvSpPr>
          <p:cNvPr id="5" name="Shape 3"/>
          <p:cNvSpPr/>
          <p:nvPr/>
        </p:nvSpPr>
        <p:spPr>
          <a:xfrm>
            <a:off x="548640" y="2148840"/>
            <a:ext cx="1965960" cy="2331720"/>
          </a:xfrm>
          <a:prstGeom prst="roundRect">
            <a:avLst>
              <a:gd name="adj" fmla="val 4651"/>
            </a:avLst>
          </a:prstGeom>
          <a:solidFill>
            <a:srgbClr val="FFFFFF"/>
          </a:solidFill>
          <a:ln/>
          <a:effectLst>
            <a:outerShdw sx="100000" sy="100000" kx="0" ky="0" algn="bl" rotWithShape="0" blurRad="76200" dist="25400" dir="5400000">
              <a:srgbClr val="1E2A2C">
                <a:alpha val="10000"/>
              </a:srgbClr>
            </a:outerShdw>
          </a:effectLst>
        </p:spPr>
      </p:sp>
      <p:sp>
        <p:nvSpPr>
          <p:cNvPr id="6" name="Shape 4"/>
          <p:cNvSpPr/>
          <p:nvPr/>
        </p:nvSpPr>
        <p:spPr>
          <a:xfrm>
            <a:off x="1275588" y="2377440"/>
            <a:ext cx="512064" cy="512064"/>
          </a:xfrm>
          <a:prstGeom prst="ellipse">
            <a:avLst/>
          </a:prstGeom>
          <a:solidFill>
            <a:srgbClr val="028090"/>
          </a:solidFill>
          <a:ln/>
        </p:spPr>
      </p:sp>
      <p:sp>
        <p:nvSpPr>
          <p:cNvPr id="7" name="Text 5"/>
          <p:cNvSpPr txBox="1"/>
          <p:nvPr/>
        </p:nvSpPr>
        <p:spPr>
          <a:xfrm>
            <a:off x="1275588" y="23774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658368" y="3017520"/>
            <a:ext cx="1746504"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Login /</a:t>
            </a:r>
            <a:endParaRPr lang="en-US" sz="1300" dirty="0"/>
          </a:p>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Authentication</a:t>
            </a:r>
            <a:endParaRPr lang="en-US" sz="1300" dirty="0"/>
          </a:p>
        </p:txBody>
      </p:sp>
      <p:sp>
        <p:nvSpPr>
          <p:cNvPr id="9" name="Text 7"/>
          <p:cNvSpPr txBox="1"/>
          <p:nvPr/>
        </p:nvSpPr>
        <p:spPr>
          <a:xfrm>
            <a:off x="685800" y="3566160"/>
            <a:ext cx="1691640" cy="868680"/>
          </a:xfrm>
          <a:prstGeom prst="rect">
            <a:avLst/>
          </a:prstGeom>
          <a:noFill/>
          <a:ln/>
        </p:spPr>
        <p:txBody>
          <a:bodyPr wrap="square" lIns="0" tIns="0" rIns="0" bIns="0" rtlCol="0" anchor="ctr"/>
          <a:lstStyle/>
          <a:p>
            <a:pPr algn="ctr" indent="0" marL="0">
              <a:lnSpc>
                <a:spcPct val="115000"/>
              </a:lnSpc>
              <a:buNone/>
            </a:pPr>
            <a:r>
              <a:rPr lang="en-US" sz="950" dirty="0">
                <a:solidFill>
                  <a:srgbClr val="5F7375"/>
                </a:solidFill>
                <a:latin typeface="Calibri" pitchFamily="34" charset="0"/>
                <a:ea typeface="Calibri" pitchFamily="34" charset="-122"/>
                <a:cs typeface="Calibri" pitchFamily="34" charset="-120"/>
              </a:rPr>
              <a:t>Validates roll number &amp; password before granting access.</a:t>
            </a:r>
            <a:endParaRPr lang="en-US" sz="950" dirty="0"/>
          </a:p>
        </p:txBody>
      </p:sp>
      <p:sp>
        <p:nvSpPr>
          <p:cNvPr id="10" name="Text 8"/>
          <p:cNvSpPr txBox="1"/>
          <p:nvPr/>
        </p:nvSpPr>
        <p:spPr>
          <a:xfrm>
            <a:off x="2514600" y="2971800"/>
            <a:ext cx="256032" cy="45720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770632" y="2148840"/>
            <a:ext cx="1965960" cy="2331720"/>
          </a:xfrm>
          <a:prstGeom prst="roundRect">
            <a:avLst>
              <a:gd name="adj" fmla="val 4651"/>
            </a:avLst>
          </a:prstGeom>
          <a:solidFill>
            <a:srgbClr val="FFFFFF"/>
          </a:solidFill>
          <a:ln/>
          <a:effectLst>
            <a:outerShdw sx="100000" sy="100000" kx="0" ky="0" algn="bl" rotWithShape="0" blurRad="76200" dist="25400" dir="5400000">
              <a:srgbClr val="1E2A2C">
                <a:alpha val="10000"/>
              </a:srgbClr>
            </a:outerShdw>
          </a:effectLst>
        </p:spPr>
      </p:sp>
      <p:sp>
        <p:nvSpPr>
          <p:cNvPr id="12" name="Shape 10"/>
          <p:cNvSpPr/>
          <p:nvPr/>
        </p:nvSpPr>
        <p:spPr>
          <a:xfrm>
            <a:off x="3497580" y="2377440"/>
            <a:ext cx="512064" cy="512064"/>
          </a:xfrm>
          <a:prstGeom prst="ellipse">
            <a:avLst/>
          </a:prstGeom>
          <a:solidFill>
            <a:srgbClr val="00A896"/>
          </a:solidFill>
          <a:ln/>
        </p:spPr>
      </p:sp>
      <p:sp>
        <p:nvSpPr>
          <p:cNvPr id="13" name="Text 11"/>
          <p:cNvSpPr txBox="1"/>
          <p:nvPr/>
        </p:nvSpPr>
        <p:spPr>
          <a:xfrm>
            <a:off x="3497580" y="23774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2880360" y="3017520"/>
            <a:ext cx="1746504"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Feedback</a:t>
            </a:r>
            <a:endParaRPr lang="en-US" sz="1300" dirty="0"/>
          </a:p>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Collection</a:t>
            </a:r>
            <a:endParaRPr lang="en-US" sz="1300" dirty="0"/>
          </a:p>
        </p:txBody>
      </p:sp>
      <p:sp>
        <p:nvSpPr>
          <p:cNvPr id="15" name="Text 13"/>
          <p:cNvSpPr txBox="1"/>
          <p:nvPr/>
        </p:nvSpPr>
        <p:spPr>
          <a:xfrm>
            <a:off x="2907792" y="3566160"/>
            <a:ext cx="1691640" cy="868680"/>
          </a:xfrm>
          <a:prstGeom prst="rect">
            <a:avLst/>
          </a:prstGeom>
          <a:noFill/>
          <a:ln/>
        </p:spPr>
        <p:txBody>
          <a:bodyPr wrap="square" lIns="0" tIns="0" rIns="0" bIns="0" rtlCol="0" anchor="ctr"/>
          <a:lstStyle/>
          <a:p>
            <a:pPr algn="ctr" indent="0" marL="0">
              <a:lnSpc>
                <a:spcPct val="115000"/>
              </a:lnSpc>
              <a:buNone/>
            </a:pPr>
            <a:r>
              <a:rPr lang="en-US" sz="950" dirty="0">
                <a:solidFill>
                  <a:srgbClr val="5F7375"/>
                </a:solidFill>
                <a:latin typeface="Calibri" pitchFamily="34" charset="0"/>
                <a:ea typeface="Calibri" pitchFamily="34" charset="-122"/>
                <a:cs typeface="Calibri" pitchFamily="34" charset="-120"/>
              </a:rPr>
              <a:t>Rating questions + open-ended comment box.</a:t>
            </a:r>
            <a:endParaRPr lang="en-US" sz="950" dirty="0"/>
          </a:p>
        </p:txBody>
      </p:sp>
      <p:sp>
        <p:nvSpPr>
          <p:cNvPr id="16" name="Text 14"/>
          <p:cNvSpPr txBox="1"/>
          <p:nvPr/>
        </p:nvSpPr>
        <p:spPr>
          <a:xfrm>
            <a:off x="4736592" y="2971800"/>
            <a:ext cx="256032" cy="45720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4992624" y="2148840"/>
            <a:ext cx="1965960" cy="2331720"/>
          </a:xfrm>
          <a:prstGeom prst="roundRect">
            <a:avLst>
              <a:gd name="adj" fmla="val 4651"/>
            </a:avLst>
          </a:prstGeom>
          <a:solidFill>
            <a:srgbClr val="FFFFFF"/>
          </a:solidFill>
          <a:ln/>
          <a:effectLst>
            <a:outerShdw sx="100000" sy="100000" kx="0" ky="0" algn="bl" rotWithShape="0" blurRad="76200" dist="25400" dir="5400000">
              <a:srgbClr val="1E2A2C">
                <a:alpha val="10000"/>
              </a:srgbClr>
            </a:outerShdw>
          </a:effectLst>
        </p:spPr>
      </p:sp>
      <p:sp>
        <p:nvSpPr>
          <p:cNvPr id="18" name="Shape 16"/>
          <p:cNvSpPr/>
          <p:nvPr/>
        </p:nvSpPr>
        <p:spPr>
          <a:xfrm>
            <a:off x="5719572" y="2377440"/>
            <a:ext cx="512064" cy="512064"/>
          </a:xfrm>
          <a:prstGeom prst="ellipse">
            <a:avLst/>
          </a:prstGeom>
          <a:solidFill>
            <a:srgbClr val="02C39A"/>
          </a:solidFill>
          <a:ln/>
        </p:spPr>
      </p:sp>
      <p:sp>
        <p:nvSpPr>
          <p:cNvPr id="19" name="Text 17"/>
          <p:cNvSpPr txBox="1"/>
          <p:nvPr/>
        </p:nvSpPr>
        <p:spPr>
          <a:xfrm>
            <a:off x="5719572" y="23774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txBox="1"/>
          <p:nvPr/>
        </p:nvSpPr>
        <p:spPr>
          <a:xfrm>
            <a:off x="5102352" y="3017520"/>
            <a:ext cx="1746504"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Database</a:t>
            </a:r>
            <a:endParaRPr lang="en-US" sz="1300" dirty="0"/>
          </a:p>
        </p:txBody>
      </p:sp>
      <p:sp>
        <p:nvSpPr>
          <p:cNvPr id="21" name="Text 19"/>
          <p:cNvSpPr txBox="1"/>
          <p:nvPr/>
        </p:nvSpPr>
        <p:spPr>
          <a:xfrm>
            <a:off x="5129784" y="3566160"/>
            <a:ext cx="1691640" cy="868680"/>
          </a:xfrm>
          <a:prstGeom prst="rect">
            <a:avLst/>
          </a:prstGeom>
          <a:noFill/>
          <a:ln/>
        </p:spPr>
        <p:txBody>
          <a:bodyPr wrap="square" lIns="0" tIns="0" rIns="0" bIns="0" rtlCol="0" anchor="ctr"/>
          <a:lstStyle/>
          <a:p>
            <a:pPr algn="ctr" indent="0" marL="0">
              <a:lnSpc>
                <a:spcPct val="115000"/>
              </a:lnSpc>
              <a:buNone/>
            </a:pPr>
            <a:r>
              <a:rPr lang="en-US" sz="950" dirty="0">
                <a:solidFill>
                  <a:srgbClr val="5F7375"/>
                </a:solidFill>
                <a:latin typeface="Calibri" pitchFamily="34" charset="0"/>
                <a:ea typeface="Calibri" pitchFamily="34" charset="-122"/>
                <a:cs typeface="Calibri" pitchFamily="34" charset="-120"/>
              </a:rPr>
              <a:t>Stores structured ratings and raw feedback text.</a:t>
            </a:r>
            <a:endParaRPr lang="en-US" sz="950" dirty="0"/>
          </a:p>
        </p:txBody>
      </p:sp>
      <p:sp>
        <p:nvSpPr>
          <p:cNvPr id="22" name="Text 20"/>
          <p:cNvSpPr txBox="1"/>
          <p:nvPr/>
        </p:nvSpPr>
        <p:spPr>
          <a:xfrm>
            <a:off x="6958584" y="2971800"/>
            <a:ext cx="256032" cy="45720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7214616" y="2148840"/>
            <a:ext cx="1965960" cy="2331720"/>
          </a:xfrm>
          <a:prstGeom prst="roundRect">
            <a:avLst>
              <a:gd name="adj" fmla="val 4651"/>
            </a:avLst>
          </a:prstGeom>
          <a:solidFill>
            <a:srgbClr val="FFFFFF"/>
          </a:solidFill>
          <a:ln/>
          <a:effectLst>
            <a:outerShdw sx="100000" sy="100000" kx="0" ky="0" algn="bl" rotWithShape="0" blurRad="76200" dist="25400" dir="5400000">
              <a:srgbClr val="1E2A2C">
                <a:alpha val="10000"/>
              </a:srgbClr>
            </a:outerShdw>
          </a:effectLst>
        </p:spPr>
      </p:sp>
      <p:sp>
        <p:nvSpPr>
          <p:cNvPr id="24" name="Shape 22"/>
          <p:cNvSpPr/>
          <p:nvPr/>
        </p:nvSpPr>
        <p:spPr>
          <a:xfrm>
            <a:off x="7941564" y="2377440"/>
            <a:ext cx="512064" cy="512064"/>
          </a:xfrm>
          <a:prstGeom prst="ellipse">
            <a:avLst/>
          </a:prstGeom>
          <a:solidFill>
            <a:srgbClr val="028090"/>
          </a:solidFill>
          <a:ln/>
        </p:spPr>
      </p:sp>
      <p:sp>
        <p:nvSpPr>
          <p:cNvPr id="25" name="Text 23"/>
          <p:cNvSpPr txBox="1"/>
          <p:nvPr/>
        </p:nvSpPr>
        <p:spPr>
          <a:xfrm>
            <a:off x="7941564" y="23774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6" name="Text 24"/>
          <p:cNvSpPr txBox="1"/>
          <p:nvPr/>
        </p:nvSpPr>
        <p:spPr>
          <a:xfrm>
            <a:off x="7324344" y="3017520"/>
            <a:ext cx="1746504"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Sentiment</a:t>
            </a:r>
            <a:endParaRPr lang="en-US" sz="1300" dirty="0"/>
          </a:p>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Analysis Engine</a:t>
            </a:r>
            <a:endParaRPr lang="en-US" sz="1300" dirty="0"/>
          </a:p>
        </p:txBody>
      </p:sp>
      <p:sp>
        <p:nvSpPr>
          <p:cNvPr id="27" name="Text 25"/>
          <p:cNvSpPr txBox="1"/>
          <p:nvPr/>
        </p:nvSpPr>
        <p:spPr>
          <a:xfrm>
            <a:off x="7351776" y="3566160"/>
            <a:ext cx="1691640" cy="868680"/>
          </a:xfrm>
          <a:prstGeom prst="rect">
            <a:avLst/>
          </a:prstGeom>
          <a:noFill/>
          <a:ln/>
        </p:spPr>
        <p:txBody>
          <a:bodyPr wrap="square" lIns="0" tIns="0" rIns="0" bIns="0" rtlCol="0" anchor="ctr"/>
          <a:lstStyle/>
          <a:p>
            <a:pPr algn="ctr" indent="0" marL="0">
              <a:lnSpc>
                <a:spcPct val="115000"/>
              </a:lnSpc>
              <a:buNone/>
            </a:pPr>
            <a:r>
              <a:rPr lang="en-US" sz="950" dirty="0">
                <a:solidFill>
                  <a:srgbClr val="5F7375"/>
                </a:solidFill>
                <a:latin typeface="Calibri" pitchFamily="34" charset="0"/>
                <a:ea typeface="Calibri" pitchFamily="34" charset="-122"/>
                <a:cs typeface="Calibri" pitchFamily="34" charset="-120"/>
              </a:rPr>
              <a:t>Cleans, tokenizes &amp; classifies text with a confidence score.</a:t>
            </a:r>
            <a:endParaRPr lang="en-US" sz="950" dirty="0"/>
          </a:p>
        </p:txBody>
      </p:sp>
      <p:sp>
        <p:nvSpPr>
          <p:cNvPr id="28" name="Text 26"/>
          <p:cNvSpPr txBox="1"/>
          <p:nvPr/>
        </p:nvSpPr>
        <p:spPr>
          <a:xfrm>
            <a:off x="9180576" y="2971800"/>
            <a:ext cx="256032" cy="45720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436608" y="2148840"/>
            <a:ext cx="1965960" cy="2331720"/>
          </a:xfrm>
          <a:prstGeom prst="roundRect">
            <a:avLst>
              <a:gd name="adj" fmla="val 4651"/>
            </a:avLst>
          </a:prstGeom>
          <a:solidFill>
            <a:srgbClr val="FFFFFF"/>
          </a:solidFill>
          <a:ln/>
          <a:effectLst>
            <a:outerShdw sx="100000" sy="100000" kx="0" ky="0" algn="bl" rotWithShape="0" blurRad="76200" dist="25400" dir="5400000">
              <a:srgbClr val="1E2A2C">
                <a:alpha val="10000"/>
              </a:srgbClr>
            </a:outerShdw>
          </a:effectLst>
        </p:spPr>
      </p:sp>
      <p:sp>
        <p:nvSpPr>
          <p:cNvPr id="30" name="Shape 28"/>
          <p:cNvSpPr/>
          <p:nvPr/>
        </p:nvSpPr>
        <p:spPr>
          <a:xfrm>
            <a:off x="10163556" y="2377440"/>
            <a:ext cx="512064" cy="512064"/>
          </a:xfrm>
          <a:prstGeom prst="ellipse">
            <a:avLst/>
          </a:prstGeom>
          <a:solidFill>
            <a:srgbClr val="00A896"/>
          </a:solidFill>
          <a:ln/>
        </p:spPr>
      </p:sp>
      <p:sp>
        <p:nvSpPr>
          <p:cNvPr id="31" name="Text 29"/>
          <p:cNvSpPr txBox="1"/>
          <p:nvPr/>
        </p:nvSpPr>
        <p:spPr>
          <a:xfrm>
            <a:off x="10163556" y="23774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2" name="Text 30"/>
          <p:cNvSpPr txBox="1"/>
          <p:nvPr/>
        </p:nvSpPr>
        <p:spPr>
          <a:xfrm>
            <a:off x="9546336" y="3017520"/>
            <a:ext cx="1746504" cy="548640"/>
          </a:xfrm>
          <a:prstGeom prst="rect">
            <a:avLst/>
          </a:prstGeom>
          <a:noFill/>
          <a:ln/>
        </p:spPr>
        <p:txBody>
          <a:bodyPr wrap="square" lIns="0" tIns="0" rIns="0" bIns="0" rtlCol="0" anchor="ctr"/>
          <a:lstStyle/>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Analytics</a:t>
            </a:r>
            <a:endParaRPr lang="en-US" sz="1300" dirty="0"/>
          </a:p>
          <a:p>
            <a:pPr algn="ctr" indent="0" marL="0">
              <a:lnSpc>
                <a:spcPct val="105000"/>
              </a:lnSpc>
              <a:buNone/>
            </a:pPr>
            <a:r>
              <a:rPr lang="en-US" sz="1300" b="1" dirty="0">
                <a:solidFill>
                  <a:srgbClr val="0B2B2E"/>
                </a:solidFill>
                <a:latin typeface="Calibri" pitchFamily="34" charset="0"/>
                <a:ea typeface="Calibri" pitchFamily="34" charset="-122"/>
                <a:cs typeface="Calibri" pitchFamily="34" charset="-120"/>
              </a:rPr>
              <a:t>Dashboard</a:t>
            </a:r>
            <a:endParaRPr lang="en-US" sz="1300" dirty="0"/>
          </a:p>
        </p:txBody>
      </p:sp>
      <p:sp>
        <p:nvSpPr>
          <p:cNvPr id="33" name="Text 31"/>
          <p:cNvSpPr txBox="1"/>
          <p:nvPr/>
        </p:nvSpPr>
        <p:spPr>
          <a:xfrm>
            <a:off x="9573768" y="3566160"/>
            <a:ext cx="1691640" cy="868680"/>
          </a:xfrm>
          <a:prstGeom prst="rect">
            <a:avLst/>
          </a:prstGeom>
          <a:noFill/>
          <a:ln/>
        </p:spPr>
        <p:txBody>
          <a:bodyPr wrap="square" lIns="0" tIns="0" rIns="0" bIns="0" rtlCol="0" anchor="ctr"/>
          <a:lstStyle/>
          <a:p>
            <a:pPr algn="ctr" indent="0" marL="0">
              <a:lnSpc>
                <a:spcPct val="115000"/>
              </a:lnSpc>
              <a:buNone/>
            </a:pPr>
            <a:r>
              <a:rPr lang="en-US" sz="950" dirty="0">
                <a:solidFill>
                  <a:srgbClr val="5F7375"/>
                </a:solidFill>
                <a:latin typeface="Calibri" pitchFamily="34" charset="0"/>
                <a:ea typeface="Calibri" pitchFamily="34" charset="-122"/>
                <a:cs typeface="Calibri" pitchFamily="34" charset="-120"/>
              </a:rPr>
              <a:t>Aggregates results into charts &amp; flagged comments.</a:t>
            </a:r>
            <a:endParaRPr lang="en-US" sz="950" dirty="0"/>
          </a:p>
        </p:txBody>
      </p:sp>
      <p:sp>
        <p:nvSpPr>
          <p:cNvPr id="34" name="Text 32"/>
          <p:cNvSpPr txBox="1"/>
          <p:nvPr/>
        </p:nvSpPr>
        <p:spPr>
          <a:xfrm>
            <a:off x="548640" y="4800600"/>
            <a:ext cx="10515600" cy="45720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Confidence-scored output lets the dashboard flag low-confidence or strongly negative comments for quick faculty review.</a:t>
            </a:r>
            <a:endParaRPr lang="en-US" sz="1250" dirty="0"/>
          </a:p>
        </p:txBody>
      </p:sp>
      <p:sp>
        <p:nvSpPr>
          <p:cNvPr id="35" name="Text 3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36" name="Text 34"/>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STEP BY STEP</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Methodology</a:t>
            </a:r>
            <a:endParaRPr lang="en-US" sz="3000" dirty="0"/>
          </a:p>
        </p:txBody>
      </p:sp>
      <p:sp>
        <p:nvSpPr>
          <p:cNvPr id="4" name="Shape 2"/>
          <p:cNvSpPr/>
          <p:nvPr/>
        </p:nvSpPr>
        <p:spPr>
          <a:xfrm>
            <a:off x="960120" y="2011680"/>
            <a:ext cx="0" cy="3584448"/>
          </a:xfrm>
          <a:prstGeom prst="line">
            <a:avLst/>
          </a:prstGeom>
          <a:noFill/>
          <a:ln w="38100">
            <a:solidFill>
              <a:srgbClr val="D5E6E3"/>
            </a:solidFill>
            <a:prstDash val="solid"/>
          </a:ln>
        </p:spPr>
      </p:sp>
      <p:sp>
        <p:nvSpPr>
          <p:cNvPr id="5" name="Shape 3"/>
          <p:cNvSpPr/>
          <p:nvPr/>
        </p:nvSpPr>
        <p:spPr>
          <a:xfrm>
            <a:off x="685800" y="1783080"/>
            <a:ext cx="548640" cy="548640"/>
          </a:xfrm>
          <a:prstGeom prst="ellipse">
            <a:avLst/>
          </a:prstGeom>
          <a:solidFill>
            <a:srgbClr val="028090"/>
          </a:solidFill>
          <a:ln/>
        </p:spPr>
      </p:sp>
      <p:sp>
        <p:nvSpPr>
          <p:cNvPr id="6" name="Text 4"/>
          <p:cNvSpPr txBox="1"/>
          <p:nvPr/>
        </p:nvSpPr>
        <p:spPr>
          <a:xfrm>
            <a:off x="685800"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508760" y="1764792"/>
            <a:ext cx="3108960" cy="548640"/>
          </a:xfrm>
          <a:prstGeom prst="rect">
            <a:avLst/>
          </a:prstGeom>
          <a:noFill/>
          <a:ln/>
        </p:spPr>
        <p:txBody>
          <a:bodyPr wrap="square" lIns="0" tIns="0" rIns="0" bIns="0"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Student logs in</a:t>
            </a:r>
            <a:endParaRPr lang="en-US" sz="1500" dirty="0"/>
          </a:p>
        </p:txBody>
      </p:sp>
      <p:sp>
        <p:nvSpPr>
          <p:cNvPr id="8" name="Text 6"/>
          <p:cNvSpPr txBox="1"/>
          <p:nvPr/>
        </p:nvSpPr>
        <p:spPr>
          <a:xfrm>
            <a:off x="4709160" y="1764792"/>
            <a:ext cx="4206240" cy="548640"/>
          </a:xfrm>
          <a:prstGeom prst="rect">
            <a:avLst/>
          </a:prstGeom>
          <a:noFill/>
          <a:ln/>
        </p:spPr>
        <p:txBody>
          <a:bodyPr wrap="square" lIns="0" tIns="0" rIns="0" bIns="0" rtlCol="0" anchor="ctr"/>
          <a:lstStyle/>
          <a:p>
            <a:pPr indent="0" marL="0">
              <a:buNone/>
            </a:pPr>
            <a:r>
              <a:rPr lang="en-US" sz="1300" dirty="0">
                <a:solidFill>
                  <a:srgbClr val="5F7375"/>
                </a:solidFill>
                <a:latin typeface="Calibri" pitchFamily="34" charset="0"/>
                <a:ea typeface="Calibri" pitchFamily="34" charset="-122"/>
                <a:cs typeface="Calibri" pitchFamily="34" charset="-120"/>
              </a:rPr>
              <a:t>through the authentication module.</a:t>
            </a:r>
            <a:endParaRPr lang="en-US" sz="1300" dirty="0"/>
          </a:p>
        </p:txBody>
      </p:sp>
      <p:sp>
        <p:nvSpPr>
          <p:cNvPr id="9" name="Shape 7"/>
          <p:cNvSpPr/>
          <p:nvPr/>
        </p:nvSpPr>
        <p:spPr>
          <a:xfrm>
            <a:off x="685800" y="2679192"/>
            <a:ext cx="548640" cy="548640"/>
          </a:xfrm>
          <a:prstGeom prst="ellipse">
            <a:avLst/>
          </a:prstGeom>
          <a:solidFill>
            <a:srgbClr val="00A896"/>
          </a:solidFill>
          <a:ln/>
        </p:spPr>
      </p:sp>
      <p:sp>
        <p:nvSpPr>
          <p:cNvPr id="10" name="Text 8"/>
          <p:cNvSpPr txBox="1"/>
          <p:nvPr/>
        </p:nvSpPr>
        <p:spPr>
          <a:xfrm>
            <a:off x="685800" y="26791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508760" y="2660904"/>
            <a:ext cx="3108960" cy="548640"/>
          </a:xfrm>
          <a:prstGeom prst="rect">
            <a:avLst/>
          </a:prstGeom>
          <a:noFill/>
          <a:ln/>
        </p:spPr>
        <p:txBody>
          <a:bodyPr wrap="square" lIns="0" tIns="0" rIns="0" bIns="0"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Feedback submitted</a:t>
            </a:r>
            <a:endParaRPr lang="en-US" sz="1500" dirty="0"/>
          </a:p>
        </p:txBody>
      </p:sp>
      <p:sp>
        <p:nvSpPr>
          <p:cNvPr id="12" name="Text 10"/>
          <p:cNvSpPr txBox="1"/>
          <p:nvPr/>
        </p:nvSpPr>
        <p:spPr>
          <a:xfrm>
            <a:off x="4709160" y="2660904"/>
            <a:ext cx="4206240" cy="548640"/>
          </a:xfrm>
          <a:prstGeom prst="rect">
            <a:avLst/>
          </a:prstGeom>
          <a:noFill/>
          <a:ln/>
        </p:spPr>
        <p:txBody>
          <a:bodyPr wrap="square" lIns="0" tIns="0" rIns="0" bIns="0" rtlCol="0" anchor="ctr"/>
          <a:lstStyle/>
          <a:p>
            <a:pPr indent="0" marL="0">
              <a:buNone/>
            </a:pPr>
            <a:r>
              <a:rPr lang="en-US" sz="1300" dirty="0">
                <a:solidFill>
                  <a:srgbClr val="5F7375"/>
                </a:solidFill>
                <a:latin typeface="Calibri" pitchFamily="34" charset="0"/>
                <a:ea typeface="Calibri" pitchFamily="34" charset="-122"/>
                <a:cs typeface="Calibri" pitchFamily="34" charset="-120"/>
              </a:rPr>
              <a:t>student fills &amp; submits ratings + comments.</a:t>
            </a:r>
            <a:endParaRPr lang="en-US" sz="1300" dirty="0"/>
          </a:p>
        </p:txBody>
      </p:sp>
      <p:sp>
        <p:nvSpPr>
          <p:cNvPr id="13" name="Shape 11"/>
          <p:cNvSpPr/>
          <p:nvPr/>
        </p:nvSpPr>
        <p:spPr>
          <a:xfrm>
            <a:off x="685800" y="3575304"/>
            <a:ext cx="548640" cy="548640"/>
          </a:xfrm>
          <a:prstGeom prst="ellipse">
            <a:avLst/>
          </a:prstGeom>
          <a:solidFill>
            <a:srgbClr val="02C39A"/>
          </a:solidFill>
          <a:ln/>
        </p:spPr>
      </p:sp>
      <p:sp>
        <p:nvSpPr>
          <p:cNvPr id="14" name="Text 12"/>
          <p:cNvSpPr txBox="1"/>
          <p:nvPr/>
        </p:nvSpPr>
        <p:spPr>
          <a:xfrm>
            <a:off x="685800" y="35753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1508760" y="3557016"/>
            <a:ext cx="3108960" cy="548640"/>
          </a:xfrm>
          <a:prstGeom prst="rect">
            <a:avLst/>
          </a:prstGeom>
          <a:noFill/>
          <a:ln/>
        </p:spPr>
        <p:txBody>
          <a:bodyPr wrap="square" lIns="0" tIns="0" rIns="0" bIns="0"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Data stored</a:t>
            </a:r>
            <a:endParaRPr lang="en-US" sz="1500" dirty="0"/>
          </a:p>
        </p:txBody>
      </p:sp>
      <p:sp>
        <p:nvSpPr>
          <p:cNvPr id="16" name="Text 14"/>
          <p:cNvSpPr txBox="1"/>
          <p:nvPr/>
        </p:nvSpPr>
        <p:spPr>
          <a:xfrm>
            <a:off x="4709160" y="3557016"/>
            <a:ext cx="4206240" cy="548640"/>
          </a:xfrm>
          <a:prstGeom prst="rect">
            <a:avLst/>
          </a:prstGeom>
          <a:noFill/>
          <a:ln/>
        </p:spPr>
        <p:txBody>
          <a:bodyPr wrap="square" lIns="0" tIns="0" rIns="0" bIns="0" rtlCol="0" anchor="ctr"/>
          <a:lstStyle/>
          <a:p>
            <a:pPr indent="0" marL="0">
              <a:buNone/>
            </a:pPr>
            <a:r>
              <a:rPr lang="en-US" sz="1300" dirty="0">
                <a:solidFill>
                  <a:srgbClr val="5F7375"/>
                </a:solidFill>
                <a:latin typeface="Calibri" pitchFamily="34" charset="0"/>
                <a:ea typeface="Calibri" pitchFamily="34" charset="-122"/>
                <a:cs typeface="Calibri" pitchFamily="34" charset="-120"/>
              </a:rPr>
              <a:t>feedback is stored in the backend database.</a:t>
            </a:r>
            <a:endParaRPr lang="en-US" sz="1300" dirty="0"/>
          </a:p>
        </p:txBody>
      </p:sp>
      <p:sp>
        <p:nvSpPr>
          <p:cNvPr id="17" name="Shape 15"/>
          <p:cNvSpPr/>
          <p:nvPr/>
        </p:nvSpPr>
        <p:spPr>
          <a:xfrm>
            <a:off x="685800" y="4471416"/>
            <a:ext cx="548640" cy="548640"/>
          </a:xfrm>
          <a:prstGeom prst="ellipse">
            <a:avLst/>
          </a:prstGeom>
          <a:solidFill>
            <a:srgbClr val="028090"/>
          </a:solidFill>
          <a:ln/>
        </p:spPr>
      </p:sp>
      <p:sp>
        <p:nvSpPr>
          <p:cNvPr id="18" name="Text 16"/>
          <p:cNvSpPr txBox="1"/>
          <p:nvPr/>
        </p:nvSpPr>
        <p:spPr>
          <a:xfrm>
            <a:off x="685800" y="44714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7"/>
          <p:cNvSpPr txBox="1"/>
          <p:nvPr/>
        </p:nvSpPr>
        <p:spPr>
          <a:xfrm>
            <a:off x="1508760" y="4453128"/>
            <a:ext cx="3108960" cy="548640"/>
          </a:xfrm>
          <a:prstGeom prst="rect">
            <a:avLst/>
          </a:prstGeom>
          <a:noFill/>
          <a:ln/>
        </p:spPr>
        <p:txBody>
          <a:bodyPr wrap="square" lIns="0" tIns="0" rIns="0" bIns="0"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NLP processing</a:t>
            </a:r>
            <a:endParaRPr lang="en-US" sz="1500" dirty="0"/>
          </a:p>
        </p:txBody>
      </p:sp>
      <p:sp>
        <p:nvSpPr>
          <p:cNvPr id="20" name="Text 18"/>
          <p:cNvSpPr txBox="1"/>
          <p:nvPr/>
        </p:nvSpPr>
        <p:spPr>
          <a:xfrm>
            <a:off x="4709160" y="4453128"/>
            <a:ext cx="4206240" cy="548640"/>
          </a:xfrm>
          <a:prstGeom prst="rect">
            <a:avLst/>
          </a:prstGeom>
          <a:noFill/>
          <a:ln/>
        </p:spPr>
        <p:txBody>
          <a:bodyPr wrap="square" lIns="0" tIns="0" rIns="0" bIns="0" rtlCol="0" anchor="ctr"/>
          <a:lstStyle/>
          <a:p>
            <a:pPr indent="0" marL="0">
              <a:buNone/>
            </a:pPr>
            <a:r>
              <a:rPr lang="en-US" sz="1300" dirty="0">
                <a:solidFill>
                  <a:srgbClr val="5F7375"/>
                </a:solidFill>
                <a:latin typeface="Calibri" pitchFamily="34" charset="0"/>
                <a:ea typeface="Calibri" pitchFamily="34" charset="-122"/>
                <a:cs typeface="Calibri" pitchFamily="34" charset="-120"/>
              </a:rPr>
              <a:t>sentiment engine assigns sentiment labels.</a:t>
            </a:r>
            <a:endParaRPr lang="en-US" sz="1300" dirty="0"/>
          </a:p>
        </p:txBody>
      </p:sp>
      <p:sp>
        <p:nvSpPr>
          <p:cNvPr id="21" name="Shape 19"/>
          <p:cNvSpPr/>
          <p:nvPr/>
        </p:nvSpPr>
        <p:spPr>
          <a:xfrm>
            <a:off x="685800" y="5367528"/>
            <a:ext cx="548640" cy="548640"/>
          </a:xfrm>
          <a:prstGeom prst="ellipse">
            <a:avLst/>
          </a:prstGeom>
          <a:solidFill>
            <a:srgbClr val="00A896"/>
          </a:solidFill>
          <a:ln/>
        </p:spPr>
      </p:sp>
      <p:sp>
        <p:nvSpPr>
          <p:cNvPr id="22" name="Text 20"/>
          <p:cNvSpPr txBox="1"/>
          <p:nvPr/>
        </p:nvSpPr>
        <p:spPr>
          <a:xfrm>
            <a:off x="685800" y="53675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3" name="Text 21"/>
          <p:cNvSpPr txBox="1"/>
          <p:nvPr/>
        </p:nvSpPr>
        <p:spPr>
          <a:xfrm>
            <a:off x="1508760" y="5349240"/>
            <a:ext cx="3108960" cy="548640"/>
          </a:xfrm>
          <a:prstGeom prst="rect">
            <a:avLst/>
          </a:prstGeom>
          <a:noFill/>
          <a:ln/>
        </p:spPr>
        <p:txBody>
          <a:bodyPr wrap="square" lIns="0" tIns="0" rIns="0" bIns="0"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Results aggregated</a:t>
            </a:r>
            <a:endParaRPr lang="en-US" sz="1500" dirty="0"/>
          </a:p>
        </p:txBody>
      </p:sp>
      <p:sp>
        <p:nvSpPr>
          <p:cNvPr id="24" name="Text 22"/>
          <p:cNvSpPr txBox="1"/>
          <p:nvPr/>
        </p:nvSpPr>
        <p:spPr>
          <a:xfrm>
            <a:off x="4709160" y="5349240"/>
            <a:ext cx="4206240" cy="548640"/>
          </a:xfrm>
          <a:prstGeom prst="rect">
            <a:avLst/>
          </a:prstGeom>
          <a:noFill/>
          <a:ln/>
        </p:spPr>
        <p:txBody>
          <a:bodyPr wrap="square" lIns="0" tIns="0" rIns="0" bIns="0" rtlCol="0" anchor="ctr"/>
          <a:lstStyle/>
          <a:p>
            <a:pPr indent="0" marL="0">
              <a:buNone/>
            </a:pPr>
            <a:r>
              <a:rPr lang="en-US" sz="1300" dirty="0">
                <a:solidFill>
                  <a:srgbClr val="5F7375"/>
                </a:solidFill>
                <a:latin typeface="Calibri" pitchFamily="34" charset="0"/>
                <a:ea typeface="Calibri" pitchFamily="34" charset="-122"/>
                <a:cs typeface="Calibri" pitchFamily="34" charset="-120"/>
              </a:rPr>
              <a:t>rendered on the dashboard as charts &amp; stats.</a:t>
            </a:r>
            <a:endParaRPr lang="en-US" sz="1300" dirty="0"/>
          </a:p>
        </p:txBody>
      </p:sp>
      <p:sp>
        <p:nvSpPr>
          <p:cNvPr id="25" name="Shape 23"/>
          <p:cNvSpPr/>
          <p:nvPr/>
        </p:nvSpPr>
        <p:spPr>
          <a:xfrm>
            <a:off x="9189720" y="1783080"/>
            <a:ext cx="2468880" cy="4206240"/>
          </a:xfrm>
          <a:prstGeom prst="roundRect">
            <a:avLst>
              <a:gd name="adj" fmla="val 4444"/>
            </a:avLst>
          </a:prstGeom>
          <a:solidFill>
            <a:srgbClr val="F4FAF9"/>
          </a:solidFill>
          <a:ln/>
        </p:spPr>
      </p:sp>
      <p:sp>
        <p:nvSpPr>
          <p:cNvPr id="26" name="Text 24"/>
          <p:cNvSpPr txBox="1"/>
          <p:nvPr/>
        </p:nvSpPr>
        <p:spPr>
          <a:xfrm>
            <a:off x="9418320" y="2011680"/>
            <a:ext cx="2011680" cy="320040"/>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Step 4 in detail</a:t>
            </a:r>
            <a:endParaRPr lang="en-US" sz="1100" dirty="0"/>
          </a:p>
        </p:txBody>
      </p:sp>
      <p:sp>
        <p:nvSpPr>
          <p:cNvPr id="27" name="Text 25"/>
          <p:cNvSpPr txBox="1"/>
          <p:nvPr/>
        </p:nvSpPr>
        <p:spPr>
          <a:xfrm>
            <a:off x="9418320" y="2377440"/>
            <a:ext cx="2011680" cy="3291840"/>
          </a:xfrm>
          <a:prstGeom prst="rect">
            <a:avLst/>
          </a:prstGeom>
          <a:noFill/>
          <a:ln/>
        </p:spPr>
        <p:txBody>
          <a:bodyPr wrap="square" lIns="0" tIns="0" rIns="0" bIns="0" rtlCol="0" anchor="ctr"/>
          <a:lstStyle/>
          <a:p>
            <a:pPr indent="0" marL="0">
              <a:lnSpc>
                <a:spcPct val="135000"/>
              </a:lnSpc>
              <a:buNone/>
            </a:pPr>
            <a:r>
              <a:rPr lang="en-US" sz="1500" b="1" dirty="0">
                <a:solidFill>
                  <a:srgbClr val="0B2B2E"/>
                </a:solidFill>
                <a:latin typeface="Cambria" pitchFamily="34" charset="0"/>
                <a:ea typeface="Cambria" pitchFamily="34" charset="-122"/>
                <a:cs typeface="Cambria" pitchFamily="34" charset="-120"/>
              </a:rPr>
              <a:t>Clean →</a:t>
            </a:r>
            <a:endParaRPr lang="en-US" sz="1500" dirty="0"/>
          </a:p>
          <a:p>
            <a:pPr indent="0" marL="0">
              <a:lnSpc>
                <a:spcPct val="135000"/>
              </a:lnSpc>
              <a:buNone/>
            </a:pPr>
            <a:r>
              <a:rPr lang="en-US" sz="1500" b="1" dirty="0">
                <a:solidFill>
                  <a:srgbClr val="0B2B2E"/>
                </a:solidFill>
                <a:latin typeface="Cambria" pitchFamily="34" charset="0"/>
                <a:ea typeface="Cambria" pitchFamily="34" charset="-122"/>
                <a:cs typeface="Cambria" pitchFamily="34" charset="-120"/>
              </a:rPr>
              <a:t>Tokenize →</a:t>
            </a:r>
            <a:endParaRPr lang="en-US" sz="1500" dirty="0"/>
          </a:p>
          <a:p>
            <a:pPr indent="0" marL="0">
              <a:lnSpc>
                <a:spcPct val="135000"/>
              </a:lnSpc>
              <a:buNone/>
            </a:pPr>
            <a:r>
              <a:rPr lang="en-US" sz="1500" b="1" dirty="0">
                <a:solidFill>
                  <a:srgbClr val="0B2B2E"/>
                </a:solidFill>
                <a:latin typeface="Cambria" pitchFamily="34" charset="0"/>
                <a:ea typeface="Cambria" pitchFamily="34" charset="-122"/>
                <a:cs typeface="Cambria" pitchFamily="34" charset="-120"/>
              </a:rPr>
              <a:t>Classify</a:t>
            </a:r>
            <a:endParaRPr lang="en-US" sz="1500" dirty="0"/>
          </a:p>
          <a:p>
            <a:pPr indent="0" marL="0">
              <a:lnSpc>
                <a:spcPct val="135000"/>
              </a:lnSpc>
              <a:buNone/>
            </a:pPr>
            <a:r>
              <a:rPr lang="en-US" sz="1500" b="1" dirty="0">
                <a:solidFill>
                  <a:srgbClr val="0B2B2E"/>
                </a:solidFill>
                <a:latin typeface="Cambria" pitchFamily="34" charset="0"/>
                <a:ea typeface="Cambria" pitchFamily="34" charset="-122"/>
                <a:cs typeface="Cambria" pitchFamily="34" charset="-120"/>
              </a:rPr>
              <a:t>(Positive /</a:t>
            </a:r>
            <a:endParaRPr lang="en-US" sz="1500" dirty="0"/>
          </a:p>
          <a:p>
            <a:pPr indent="0" marL="0">
              <a:lnSpc>
                <a:spcPct val="135000"/>
              </a:lnSpc>
              <a:buNone/>
            </a:pPr>
            <a:r>
              <a:rPr lang="en-US" sz="1500" b="1" dirty="0">
                <a:solidFill>
                  <a:srgbClr val="0B2B2E"/>
                </a:solidFill>
                <a:latin typeface="Cambria" pitchFamily="34" charset="0"/>
                <a:ea typeface="Cambria" pitchFamily="34" charset="-122"/>
                <a:cs typeface="Cambria" pitchFamily="34" charset="-120"/>
              </a:rPr>
              <a:t>Negative /</a:t>
            </a:r>
            <a:endParaRPr lang="en-US" sz="1500" dirty="0"/>
          </a:p>
          <a:p>
            <a:pPr indent="0" marL="0">
              <a:lnSpc>
                <a:spcPct val="135000"/>
              </a:lnSpc>
              <a:buNone/>
            </a:pPr>
            <a:r>
              <a:rPr lang="en-US" sz="1500" b="1" dirty="0">
                <a:solidFill>
                  <a:srgbClr val="0B2B2E"/>
                </a:solidFill>
                <a:latin typeface="Cambria" pitchFamily="34" charset="0"/>
                <a:ea typeface="Cambria" pitchFamily="34" charset="-122"/>
                <a:cs typeface="Cambria" pitchFamily="34" charset="-120"/>
              </a:rPr>
              <a:t>Neutral)</a:t>
            </a:r>
            <a:endParaRPr lang="en-US" sz="1500" dirty="0"/>
          </a:p>
        </p:txBody>
      </p:sp>
      <p:sp>
        <p:nvSpPr>
          <p:cNvPr id="28" name="Text 2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29" name="Text 2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AF9"/>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RESULT SNAPSHOT</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0B2B2E"/>
                </a:solidFill>
                <a:latin typeface="Cambria" pitchFamily="34" charset="0"/>
                <a:ea typeface="Cambria" pitchFamily="34" charset="-122"/>
                <a:cs typeface="Cambria" pitchFamily="34" charset="-120"/>
              </a:rPr>
              <a:t>Sample Sentiment Classification</a:t>
            </a:r>
            <a:endParaRPr lang="en-US" sz="3000" dirty="0"/>
          </a:p>
        </p:txBody>
      </p:sp>
      <p:sp>
        <p:nvSpPr>
          <p:cNvPr id="4" name="Shape 2"/>
          <p:cNvSpPr/>
          <p:nvPr/>
        </p:nvSpPr>
        <p:spPr>
          <a:xfrm>
            <a:off x="548640" y="1783080"/>
            <a:ext cx="6766560" cy="1143000"/>
          </a:xfrm>
          <a:prstGeom prst="roundRect">
            <a:avLst>
              <a:gd name="adj" fmla="val 8000"/>
            </a:avLst>
          </a:prstGeom>
          <a:solidFill>
            <a:srgbClr val="FFFFFF"/>
          </a:solidFill>
          <a:ln/>
          <a:effectLst>
            <a:outerShdw sx="100000" sy="100000" kx="0" ky="0" algn="bl" rotWithShape="0" blurRad="63500" dist="25400" dir="5400000">
              <a:srgbClr val="1E2A2C">
                <a:alpha val="10000"/>
              </a:srgbClr>
            </a:outerShdw>
          </a:effectLst>
        </p:spPr>
      </p:sp>
      <p:sp>
        <p:nvSpPr>
          <p:cNvPr id="5" name="Text 3"/>
          <p:cNvSpPr txBox="1"/>
          <p:nvPr/>
        </p:nvSpPr>
        <p:spPr>
          <a:xfrm>
            <a:off x="777240" y="1929384"/>
            <a:ext cx="4480560" cy="868680"/>
          </a:xfrm>
          <a:prstGeom prst="rect">
            <a:avLst/>
          </a:prstGeom>
          <a:noFill/>
          <a:ln/>
        </p:spPr>
        <p:txBody>
          <a:bodyPr wrap="square" lIns="0" tIns="0" rIns="0" bIns="0" rtlCol="0" anchor="ctr"/>
          <a:lstStyle/>
          <a:p>
            <a:pPr indent="0" marL="0">
              <a:lnSpc>
                <a:spcPct val="120000"/>
              </a:lnSpc>
              <a:buNone/>
            </a:pPr>
            <a:r>
              <a:rPr lang="en-US" sz="1300" i="1" dirty="0">
                <a:solidFill>
                  <a:srgbClr val="0B2B2E"/>
                </a:solidFill>
                <a:latin typeface="Calibri" pitchFamily="34" charset="0"/>
                <a:ea typeface="Calibri" pitchFamily="34" charset="-122"/>
                <a:cs typeface="Calibri" pitchFamily="34" charset="-120"/>
              </a:rPr>
              <a:t>“The faculty explained the concepts very clearly.”</a:t>
            </a:r>
            <a:endParaRPr lang="en-US" sz="1300" dirty="0"/>
          </a:p>
        </p:txBody>
      </p:sp>
      <p:sp>
        <p:nvSpPr>
          <p:cNvPr id="6" name="Shape 4"/>
          <p:cNvSpPr/>
          <p:nvPr/>
        </p:nvSpPr>
        <p:spPr>
          <a:xfrm>
            <a:off x="5440680" y="2057400"/>
            <a:ext cx="1371600" cy="365760"/>
          </a:xfrm>
          <a:prstGeom prst="roundRect">
            <a:avLst>
              <a:gd name="adj" fmla="val 50000"/>
            </a:avLst>
          </a:prstGeom>
          <a:solidFill>
            <a:srgbClr val="02C39A"/>
          </a:solidFill>
          <a:ln/>
        </p:spPr>
      </p:sp>
      <p:sp>
        <p:nvSpPr>
          <p:cNvPr id="7" name="Text 5"/>
          <p:cNvSpPr txBox="1"/>
          <p:nvPr/>
        </p:nvSpPr>
        <p:spPr>
          <a:xfrm>
            <a:off x="5440680" y="205740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Positive</a:t>
            </a:r>
            <a:endParaRPr lang="en-US" sz="1200" dirty="0"/>
          </a:p>
        </p:txBody>
      </p:sp>
      <p:sp>
        <p:nvSpPr>
          <p:cNvPr id="8" name="Text 6"/>
          <p:cNvSpPr txBox="1"/>
          <p:nvPr/>
        </p:nvSpPr>
        <p:spPr>
          <a:xfrm>
            <a:off x="5440680" y="2496312"/>
            <a:ext cx="1737360" cy="274320"/>
          </a:xfrm>
          <a:prstGeom prst="rect">
            <a:avLst/>
          </a:prstGeom>
          <a:noFill/>
          <a:ln/>
        </p:spPr>
        <p:txBody>
          <a:bodyPr wrap="square" lIns="0" tIns="0" rIns="0" bIns="0" rtlCol="0" anchor="ctr"/>
          <a:lstStyle/>
          <a:p>
            <a:pPr indent="0" marL="0">
              <a:buNone/>
            </a:pPr>
            <a:r>
              <a:rPr lang="en-US" sz="1050" dirty="0">
                <a:solidFill>
                  <a:srgbClr val="5F7375"/>
                </a:solidFill>
                <a:latin typeface="Calibri" pitchFamily="34" charset="0"/>
                <a:ea typeface="Calibri" pitchFamily="34" charset="-122"/>
                <a:cs typeface="Calibri" pitchFamily="34" charset="-120"/>
              </a:rPr>
              <a:t>Confidence: 0.86</a:t>
            </a:r>
            <a:endParaRPr lang="en-US" sz="1050" dirty="0"/>
          </a:p>
        </p:txBody>
      </p:sp>
      <p:sp>
        <p:nvSpPr>
          <p:cNvPr id="9" name="Shape 7"/>
          <p:cNvSpPr/>
          <p:nvPr/>
        </p:nvSpPr>
        <p:spPr>
          <a:xfrm>
            <a:off x="548640" y="3154680"/>
            <a:ext cx="6766560" cy="1143000"/>
          </a:xfrm>
          <a:prstGeom prst="roundRect">
            <a:avLst>
              <a:gd name="adj" fmla="val 8000"/>
            </a:avLst>
          </a:prstGeom>
          <a:solidFill>
            <a:srgbClr val="FFFFFF"/>
          </a:solidFill>
          <a:ln/>
          <a:effectLst>
            <a:outerShdw sx="100000" sy="100000" kx="0" ky="0" algn="bl" rotWithShape="0" blurRad="63500" dist="25400" dir="5400000">
              <a:srgbClr val="1E2A2C">
                <a:alpha val="10000"/>
              </a:srgbClr>
            </a:outerShdw>
          </a:effectLst>
        </p:spPr>
      </p:sp>
      <p:sp>
        <p:nvSpPr>
          <p:cNvPr id="10" name="Text 8"/>
          <p:cNvSpPr txBox="1"/>
          <p:nvPr/>
        </p:nvSpPr>
        <p:spPr>
          <a:xfrm>
            <a:off x="777240" y="3300984"/>
            <a:ext cx="4480560" cy="868680"/>
          </a:xfrm>
          <a:prstGeom prst="rect">
            <a:avLst/>
          </a:prstGeom>
          <a:noFill/>
          <a:ln/>
        </p:spPr>
        <p:txBody>
          <a:bodyPr wrap="square" lIns="0" tIns="0" rIns="0" bIns="0" rtlCol="0" anchor="ctr"/>
          <a:lstStyle/>
          <a:p>
            <a:pPr indent="0" marL="0">
              <a:lnSpc>
                <a:spcPct val="120000"/>
              </a:lnSpc>
              <a:buNone/>
            </a:pPr>
            <a:r>
              <a:rPr lang="en-US" sz="1300" i="1" dirty="0">
                <a:solidFill>
                  <a:srgbClr val="0B2B2E"/>
                </a:solidFill>
                <a:latin typeface="Calibri" pitchFamily="34" charset="0"/>
                <a:ea typeface="Calibri" pitchFamily="34" charset="-122"/>
                <a:cs typeface="Calibri" pitchFamily="34" charset="-120"/>
              </a:rPr>
              <a:t>“The lab sessions were okay, nothing special.”</a:t>
            </a:r>
            <a:endParaRPr lang="en-US" sz="1300" dirty="0"/>
          </a:p>
        </p:txBody>
      </p:sp>
      <p:sp>
        <p:nvSpPr>
          <p:cNvPr id="11" name="Shape 9"/>
          <p:cNvSpPr/>
          <p:nvPr/>
        </p:nvSpPr>
        <p:spPr>
          <a:xfrm>
            <a:off x="5440680" y="3429000"/>
            <a:ext cx="1371600" cy="365760"/>
          </a:xfrm>
          <a:prstGeom prst="roundRect">
            <a:avLst>
              <a:gd name="adj" fmla="val 50000"/>
            </a:avLst>
          </a:prstGeom>
          <a:solidFill>
            <a:srgbClr val="8D99AE"/>
          </a:solidFill>
          <a:ln/>
        </p:spPr>
      </p:sp>
      <p:sp>
        <p:nvSpPr>
          <p:cNvPr id="12" name="Text 10"/>
          <p:cNvSpPr txBox="1"/>
          <p:nvPr/>
        </p:nvSpPr>
        <p:spPr>
          <a:xfrm>
            <a:off x="5440680" y="342900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Neutral</a:t>
            </a:r>
            <a:endParaRPr lang="en-US" sz="1200" dirty="0"/>
          </a:p>
        </p:txBody>
      </p:sp>
      <p:sp>
        <p:nvSpPr>
          <p:cNvPr id="13" name="Text 11"/>
          <p:cNvSpPr txBox="1"/>
          <p:nvPr/>
        </p:nvSpPr>
        <p:spPr>
          <a:xfrm>
            <a:off x="5440680" y="3867912"/>
            <a:ext cx="1737360" cy="274320"/>
          </a:xfrm>
          <a:prstGeom prst="rect">
            <a:avLst/>
          </a:prstGeom>
          <a:noFill/>
          <a:ln/>
        </p:spPr>
        <p:txBody>
          <a:bodyPr wrap="square" lIns="0" tIns="0" rIns="0" bIns="0" rtlCol="0" anchor="ctr"/>
          <a:lstStyle/>
          <a:p>
            <a:pPr indent="0" marL="0">
              <a:buNone/>
            </a:pPr>
            <a:r>
              <a:rPr lang="en-US" sz="1050" dirty="0">
                <a:solidFill>
                  <a:srgbClr val="5F7375"/>
                </a:solidFill>
                <a:latin typeface="Calibri" pitchFamily="34" charset="0"/>
                <a:ea typeface="Calibri" pitchFamily="34" charset="-122"/>
                <a:cs typeface="Calibri" pitchFamily="34" charset="-120"/>
              </a:rPr>
              <a:t>Confidence: 0.52</a:t>
            </a:r>
            <a:endParaRPr lang="en-US" sz="1050" dirty="0"/>
          </a:p>
        </p:txBody>
      </p:sp>
      <p:sp>
        <p:nvSpPr>
          <p:cNvPr id="14" name="Shape 12"/>
          <p:cNvSpPr/>
          <p:nvPr/>
        </p:nvSpPr>
        <p:spPr>
          <a:xfrm>
            <a:off x="548640" y="4526280"/>
            <a:ext cx="6766560" cy="1143000"/>
          </a:xfrm>
          <a:prstGeom prst="roundRect">
            <a:avLst>
              <a:gd name="adj" fmla="val 8000"/>
            </a:avLst>
          </a:prstGeom>
          <a:solidFill>
            <a:srgbClr val="FFFFFF"/>
          </a:solidFill>
          <a:ln/>
          <a:effectLst>
            <a:outerShdw sx="100000" sy="100000" kx="0" ky="0" algn="bl" rotWithShape="0" blurRad="63500" dist="25400" dir="5400000">
              <a:srgbClr val="1E2A2C">
                <a:alpha val="10000"/>
              </a:srgbClr>
            </a:outerShdw>
          </a:effectLst>
        </p:spPr>
      </p:sp>
      <p:sp>
        <p:nvSpPr>
          <p:cNvPr id="15" name="Text 13"/>
          <p:cNvSpPr txBox="1"/>
          <p:nvPr/>
        </p:nvSpPr>
        <p:spPr>
          <a:xfrm>
            <a:off x="777240" y="4672584"/>
            <a:ext cx="4480560" cy="868680"/>
          </a:xfrm>
          <a:prstGeom prst="rect">
            <a:avLst/>
          </a:prstGeom>
          <a:noFill/>
          <a:ln/>
        </p:spPr>
        <p:txBody>
          <a:bodyPr wrap="square" lIns="0" tIns="0" rIns="0" bIns="0" rtlCol="0" anchor="ctr"/>
          <a:lstStyle/>
          <a:p>
            <a:pPr indent="0" marL="0">
              <a:lnSpc>
                <a:spcPct val="120000"/>
              </a:lnSpc>
              <a:buNone/>
            </a:pPr>
            <a:r>
              <a:rPr lang="en-US" sz="1300" i="1" dirty="0">
                <a:solidFill>
                  <a:srgbClr val="0B2B2E"/>
                </a:solidFill>
                <a:latin typeface="Calibri" pitchFamily="34" charset="0"/>
                <a:ea typeface="Calibri" pitchFamily="34" charset="-122"/>
                <a:cs typeface="Calibri" pitchFamily="34" charset="-120"/>
              </a:rPr>
              <a:t>“The course pace was too fast and confusing.”</a:t>
            </a:r>
            <a:endParaRPr lang="en-US" sz="1300" dirty="0"/>
          </a:p>
        </p:txBody>
      </p:sp>
      <p:sp>
        <p:nvSpPr>
          <p:cNvPr id="16" name="Shape 14"/>
          <p:cNvSpPr/>
          <p:nvPr/>
        </p:nvSpPr>
        <p:spPr>
          <a:xfrm>
            <a:off x="5440680" y="4800600"/>
            <a:ext cx="1371600" cy="365760"/>
          </a:xfrm>
          <a:prstGeom prst="roundRect">
            <a:avLst>
              <a:gd name="adj" fmla="val 50000"/>
            </a:avLst>
          </a:prstGeom>
          <a:solidFill>
            <a:srgbClr val="D64550"/>
          </a:solidFill>
          <a:ln/>
        </p:spPr>
      </p:sp>
      <p:sp>
        <p:nvSpPr>
          <p:cNvPr id="17" name="Text 15"/>
          <p:cNvSpPr txBox="1"/>
          <p:nvPr/>
        </p:nvSpPr>
        <p:spPr>
          <a:xfrm>
            <a:off x="5440680" y="480060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Negative</a:t>
            </a:r>
            <a:endParaRPr lang="en-US" sz="1200" dirty="0"/>
          </a:p>
        </p:txBody>
      </p:sp>
      <p:sp>
        <p:nvSpPr>
          <p:cNvPr id="18" name="Text 16"/>
          <p:cNvSpPr txBox="1"/>
          <p:nvPr/>
        </p:nvSpPr>
        <p:spPr>
          <a:xfrm>
            <a:off x="5440680" y="5239512"/>
            <a:ext cx="1737360" cy="274320"/>
          </a:xfrm>
          <a:prstGeom prst="rect">
            <a:avLst/>
          </a:prstGeom>
          <a:noFill/>
          <a:ln/>
        </p:spPr>
        <p:txBody>
          <a:bodyPr wrap="square" lIns="0" tIns="0" rIns="0" bIns="0" rtlCol="0" anchor="ctr"/>
          <a:lstStyle/>
          <a:p>
            <a:pPr indent="0" marL="0">
              <a:buNone/>
            </a:pPr>
            <a:r>
              <a:rPr lang="en-US" sz="1050" dirty="0">
                <a:solidFill>
                  <a:srgbClr val="5F7375"/>
                </a:solidFill>
                <a:latin typeface="Calibri" pitchFamily="34" charset="0"/>
                <a:ea typeface="Calibri" pitchFamily="34" charset="-122"/>
                <a:cs typeface="Calibri" pitchFamily="34" charset="-120"/>
              </a:rPr>
              <a:t>Confidence: 0.79</a:t>
            </a:r>
            <a:endParaRPr lang="en-US" sz="1050" dirty="0"/>
          </a:p>
        </p:txBody>
      </p:sp>
      <p:sp>
        <p:nvSpPr>
          <p:cNvPr id="19" name="Text 17"/>
          <p:cNvSpPr txBox="1"/>
          <p:nvPr/>
        </p:nvSpPr>
        <p:spPr>
          <a:xfrm>
            <a:off x="7635240" y="1691640"/>
            <a:ext cx="4023360" cy="320040"/>
          </a:xfrm>
          <a:prstGeom prst="rect">
            <a:avLst/>
          </a:prstGeom>
          <a:noFill/>
          <a:ln/>
        </p:spPr>
        <p:txBody>
          <a:bodyPr wrap="square" lIns="0" tIns="0" rIns="0" bIns="0" rtlCol="0" anchor="ctr"/>
          <a:lstStyle/>
          <a:p>
            <a:pPr indent="0" marL="0">
              <a:buNone/>
            </a:pPr>
            <a:r>
              <a:rPr lang="en-US" sz="1250" b="1" dirty="0">
                <a:solidFill>
                  <a:srgbClr val="0B2B2E"/>
                </a:solidFill>
                <a:latin typeface="Calibri" pitchFamily="34" charset="0"/>
                <a:ea typeface="Calibri" pitchFamily="34" charset="-122"/>
                <a:cs typeface="Calibri" pitchFamily="34" charset="-120"/>
              </a:rPr>
              <a:t>Confidence Score by Sentiment</a:t>
            </a:r>
            <a:endParaRPr lang="en-US" sz="1250" dirty="0"/>
          </a:p>
        </p:txBody>
      </p:sp>
      <p:graphicFrame>
        <p:nvGraphicFramePr>
          <p:cNvPr id="20" name="Chart 0" descr=""/>
          <p:cNvGraphicFramePr/>
          <p:nvPr/>
        </p:nvGraphicFramePr>
        <p:xfrm>
          <a:off x="7498080" y="2057400"/>
          <a:ext cx="4206240" cy="393192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22" name="Text 19"/>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28090">
              <a:alpha val="45000"/>
            </a:srgbClr>
          </a:solidFill>
          <a:ln/>
        </p:spPr>
      </p:sp>
      <p:sp>
        <p:nvSpPr>
          <p:cNvPr id="3" name="Text 1"/>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EXPECTED OUTCOMES</a:t>
            </a:r>
            <a:endParaRPr lang="en-US" sz="1200" dirty="0"/>
          </a:p>
        </p:txBody>
      </p:sp>
      <p:sp>
        <p:nvSpPr>
          <p:cNvPr id="4" name="Text 2"/>
          <p:cNvSpPr txBox="1"/>
          <p:nvPr/>
        </p:nvSpPr>
        <p:spPr>
          <a:xfrm>
            <a:off x="548640" y="713232"/>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the System Delivers</a:t>
            </a:r>
            <a:endParaRPr lang="en-US" sz="3000" dirty="0"/>
          </a:p>
        </p:txBody>
      </p:sp>
      <p:sp>
        <p:nvSpPr>
          <p:cNvPr id="5" name="Shape 3"/>
          <p:cNvSpPr/>
          <p:nvPr/>
        </p:nvSpPr>
        <p:spPr>
          <a:xfrm>
            <a:off x="548640" y="1828800"/>
            <a:ext cx="5440680" cy="1965960"/>
          </a:xfrm>
          <a:prstGeom prst="roundRect">
            <a:avLst>
              <a:gd name="adj" fmla="val 4651"/>
            </a:avLst>
          </a:prstGeom>
          <a:solidFill>
            <a:srgbClr val="0A4E54"/>
          </a:solidFill>
          <a:ln/>
        </p:spPr>
      </p:sp>
      <p:sp>
        <p:nvSpPr>
          <p:cNvPr id="6" name="Shape 4"/>
          <p:cNvSpPr/>
          <p:nvPr/>
        </p:nvSpPr>
        <p:spPr>
          <a:xfrm>
            <a:off x="804672" y="2084832"/>
            <a:ext cx="411480" cy="411480"/>
          </a:xfrm>
          <a:prstGeom prst="ellipse">
            <a:avLst/>
          </a:prstGeom>
          <a:solidFill>
            <a:srgbClr val="02C39A"/>
          </a:solidFill>
          <a:ln/>
        </p:spPr>
      </p:sp>
      <p:sp>
        <p:nvSpPr>
          <p:cNvPr id="7" name="Text 5"/>
          <p:cNvSpPr txBox="1"/>
          <p:nvPr/>
        </p:nvSpPr>
        <p:spPr>
          <a:xfrm>
            <a:off x="804672" y="2084832"/>
            <a:ext cx="411480" cy="411480"/>
          </a:xfrm>
          <a:prstGeom prst="rect">
            <a:avLst/>
          </a:prstGeom>
          <a:noFill/>
          <a:ln/>
        </p:spPr>
        <p:txBody>
          <a:bodyPr wrap="square" lIns="0" tIns="0" rIns="0" bIns="0" rtlCol="0" anchor="ctr"/>
          <a:lstStyle/>
          <a:p>
            <a:pPr algn="ctr" indent="0" marL="0">
              <a:buNone/>
            </a:pPr>
            <a:r>
              <a:rPr lang="en-US" sz="1400" b="1" dirty="0">
                <a:solidFill>
                  <a:srgbClr val="013A40"/>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804672" y="2651760"/>
            <a:ext cx="4928616" cy="960120"/>
          </a:xfrm>
          <a:prstGeom prst="rect">
            <a:avLst/>
          </a:prstGeom>
          <a:noFill/>
          <a:ln/>
        </p:spPr>
        <p:txBody>
          <a:bodyPr wrap="square" lIns="0" tIns="0" rIns="0" bIns="0" rtlCol="0" anchor="ctr"/>
          <a:lstStyle/>
          <a:p>
            <a:pPr indent="0" marL="0">
              <a:lnSpc>
                <a:spcPct val="125000"/>
              </a:lnSpc>
              <a:buNone/>
            </a:pPr>
            <a:r>
              <a:rPr lang="en-US" sz="1300" dirty="0">
                <a:solidFill>
                  <a:srgbClr val="E4F3F1"/>
                </a:solidFill>
                <a:latin typeface="Calibri" pitchFamily="34" charset="0"/>
                <a:ea typeface="Calibri" pitchFamily="34" charset="-122"/>
                <a:cs typeface="Calibri" pitchFamily="34" charset="-120"/>
              </a:rPr>
              <a:t>A working prototype for students to securely log in and submit feedback.</a:t>
            </a:r>
            <a:endParaRPr lang="en-US" sz="1300" dirty="0"/>
          </a:p>
        </p:txBody>
      </p:sp>
      <p:sp>
        <p:nvSpPr>
          <p:cNvPr id="9" name="Shape 7"/>
          <p:cNvSpPr/>
          <p:nvPr/>
        </p:nvSpPr>
        <p:spPr>
          <a:xfrm>
            <a:off x="6309360" y="1828800"/>
            <a:ext cx="5440680" cy="1965960"/>
          </a:xfrm>
          <a:prstGeom prst="roundRect">
            <a:avLst>
              <a:gd name="adj" fmla="val 4651"/>
            </a:avLst>
          </a:prstGeom>
          <a:solidFill>
            <a:srgbClr val="0A4E54"/>
          </a:solidFill>
          <a:ln/>
        </p:spPr>
      </p:sp>
      <p:sp>
        <p:nvSpPr>
          <p:cNvPr id="10" name="Shape 8"/>
          <p:cNvSpPr/>
          <p:nvPr/>
        </p:nvSpPr>
        <p:spPr>
          <a:xfrm>
            <a:off x="6565392" y="2084832"/>
            <a:ext cx="411480" cy="411480"/>
          </a:xfrm>
          <a:prstGeom prst="ellipse">
            <a:avLst/>
          </a:prstGeom>
          <a:solidFill>
            <a:srgbClr val="02C39A"/>
          </a:solidFill>
          <a:ln/>
        </p:spPr>
      </p:sp>
      <p:sp>
        <p:nvSpPr>
          <p:cNvPr id="11" name="Text 9"/>
          <p:cNvSpPr txBox="1"/>
          <p:nvPr/>
        </p:nvSpPr>
        <p:spPr>
          <a:xfrm>
            <a:off x="6565392" y="2084832"/>
            <a:ext cx="411480" cy="411480"/>
          </a:xfrm>
          <a:prstGeom prst="rect">
            <a:avLst/>
          </a:prstGeom>
          <a:noFill/>
          <a:ln/>
        </p:spPr>
        <p:txBody>
          <a:bodyPr wrap="square" lIns="0" tIns="0" rIns="0" bIns="0" rtlCol="0" anchor="ctr"/>
          <a:lstStyle/>
          <a:p>
            <a:pPr algn="ctr" indent="0" marL="0">
              <a:buNone/>
            </a:pPr>
            <a:r>
              <a:rPr lang="en-US" sz="1400" b="1" dirty="0">
                <a:solidFill>
                  <a:srgbClr val="013A40"/>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6565392" y="2651760"/>
            <a:ext cx="4928616" cy="960120"/>
          </a:xfrm>
          <a:prstGeom prst="rect">
            <a:avLst/>
          </a:prstGeom>
          <a:noFill/>
          <a:ln/>
        </p:spPr>
        <p:txBody>
          <a:bodyPr wrap="square" lIns="0" tIns="0" rIns="0" bIns="0" rtlCol="0" anchor="ctr"/>
          <a:lstStyle/>
          <a:p>
            <a:pPr indent="0" marL="0">
              <a:lnSpc>
                <a:spcPct val="125000"/>
              </a:lnSpc>
              <a:buNone/>
            </a:pPr>
            <a:r>
              <a:rPr lang="en-US" sz="1300" dirty="0">
                <a:solidFill>
                  <a:srgbClr val="E4F3F1"/>
                </a:solidFill>
                <a:latin typeface="Calibri" pitchFamily="34" charset="0"/>
                <a:ea typeface="Calibri" pitchFamily="34" charset="-122"/>
                <a:cs typeface="Calibri" pitchFamily="34" charset="-120"/>
              </a:rPr>
              <a:t>Automatic classification of free-text feedback into Positive, Negative, or Neutral.</a:t>
            </a:r>
            <a:endParaRPr lang="en-US" sz="1300" dirty="0"/>
          </a:p>
        </p:txBody>
      </p:sp>
      <p:sp>
        <p:nvSpPr>
          <p:cNvPr id="13" name="Shape 11"/>
          <p:cNvSpPr/>
          <p:nvPr/>
        </p:nvSpPr>
        <p:spPr>
          <a:xfrm>
            <a:off x="548640" y="4114800"/>
            <a:ext cx="5440680" cy="1965960"/>
          </a:xfrm>
          <a:prstGeom prst="roundRect">
            <a:avLst>
              <a:gd name="adj" fmla="val 4651"/>
            </a:avLst>
          </a:prstGeom>
          <a:solidFill>
            <a:srgbClr val="0A4E54"/>
          </a:solidFill>
          <a:ln/>
        </p:spPr>
      </p:sp>
      <p:sp>
        <p:nvSpPr>
          <p:cNvPr id="14" name="Shape 12"/>
          <p:cNvSpPr/>
          <p:nvPr/>
        </p:nvSpPr>
        <p:spPr>
          <a:xfrm>
            <a:off x="804672" y="4370832"/>
            <a:ext cx="411480" cy="411480"/>
          </a:xfrm>
          <a:prstGeom prst="ellipse">
            <a:avLst/>
          </a:prstGeom>
          <a:solidFill>
            <a:srgbClr val="02C39A"/>
          </a:solidFill>
          <a:ln/>
        </p:spPr>
      </p:sp>
      <p:sp>
        <p:nvSpPr>
          <p:cNvPr id="15" name="Text 13"/>
          <p:cNvSpPr txBox="1"/>
          <p:nvPr/>
        </p:nvSpPr>
        <p:spPr>
          <a:xfrm>
            <a:off x="804672" y="4370832"/>
            <a:ext cx="411480" cy="411480"/>
          </a:xfrm>
          <a:prstGeom prst="rect">
            <a:avLst/>
          </a:prstGeom>
          <a:noFill/>
          <a:ln/>
        </p:spPr>
        <p:txBody>
          <a:bodyPr wrap="square" lIns="0" tIns="0" rIns="0" bIns="0" rtlCol="0" anchor="ctr"/>
          <a:lstStyle/>
          <a:p>
            <a:pPr algn="ctr" indent="0" marL="0">
              <a:buNone/>
            </a:pPr>
            <a:r>
              <a:rPr lang="en-US" sz="1400" b="1" dirty="0">
                <a:solidFill>
                  <a:srgbClr val="013A40"/>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804672" y="4937760"/>
            <a:ext cx="4928616" cy="960120"/>
          </a:xfrm>
          <a:prstGeom prst="rect">
            <a:avLst/>
          </a:prstGeom>
          <a:noFill/>
          <a:ln/>
        </p:spPr>
        <p:txBody>
          <a:bodyPr wrap="square" lIns="0" tIns="0" rIns="0" bIns="0" rtlCol="0" anchor="ctr"/>
          <a:lstStyle/>
          <a:p>
            <a:pPr indent="0" marL="0">
              <a:lnSpc>
                <a:spcPct val="125000"/>
              </a:lnSpc>
              <a:buNone/>
            </a:pPr>
            <a:r>
              <a:rPr lang="en-US" sz="1300" dirty="0">
                <a:solidFill>
                  <a:srgbClr val="E4F3F1"/>
                </a:solidFill>
                <a:latin typeface="Calibri" pitchFamily="34" charset="0"/>
                <a:ea typeface="Calibri" pitchFamily="34" charset="-122"/>
                <a:cs typeface="Calibri" pitchFamily="34" charset="-120"/>
              </a:rPr>
              <a:t>A dashboard giving faculty a quick, visual summary of overall sentiment — cutting the manual effort of reading every response.</a:t>
            </a:r>
            <a:endParaRPr lang="en-US" sz="1300" dirty="0"/>
          </a:p>
        </p:txBody>
      </p:sp>
      <p:sp>
        <p:nvSpPr>
          <p:cNvPr id="17" name="Shape 15"/>
          <p:cNvSpPr/>
          <p:nvPr/>
        </p:nvSpPr>
        <p:spPr>
          <a:xfrm>
            <a:off x="6309360" y="4114800"/>
            <a:ext cx="5440680" cy="1965960"/>
          </a:xfrm>
          <a:prstGeom prst="roundRect">
            <a:avLst>
              <a:gd name="adj" fmla="val 4651"/>
            </a:avLst>
          </a:prstGeom>
          <a:solidFill>
            <a:srgbClr val="0A4E54"/>
          </a:solidFill>
          <a:ln/>
        </p:spPr>
      </p:sp>
      <p:sp>
        <p:nvSpPr>
          <p:cNvPr id="18" name="Shape 16"/>
          <p:cNvSpPr/>
          <p:nvPr/>
        </p:nvSpPr>
        <p:spPr>
          <a:xfrm>
            <a:off x="6565392" y="4370832"/>
            <a:ext cx="411480" cy="411480"/>
          </a:xfrm>
          <a:prstGeom prst="ellipse">
            <a:avLst/>
          </a:prstGeom>
          <a:solidFill>
            <a:srgbClr val="02C39A"/>
          </a:solidFill>
          <a:ln/>
        </p:spPr>
      </p:sp>
      <p:sp>
        <p:nvSpPr>
          <p:cNvPr id="19" name="Text 17"/>
          <p:cNvSpPr txBox="1"/>
          <p:nvPr/>
        </p:nvSpPr>
        <p:spPr>
          <a:xfrm>
            <a:off x="6565392" y="4370832"/>
            <a:ext cx="411480" cy="411480"/>
          </a:xfrm>
          <a:prstGeom prst="rect">
            <a:avLst/>
          </a:prstGeom>
          <a:noFill/>
          <a:ln/>
        </p:spPr>
        <p:txBody>
          <a:bodyPr wrap="square" lIns="0" tIns="0" rIns="0" bIns="0" rtlCol="0" anchor="ctr"/>
          <a:lstStyle/>
          <a:p>
            <a:pPr algn="ctr" indent="0" marL="0">
              <a:buNone/>
            </a:pPr>
            <a:r>
              <a:rPr lang="en-US" sz="1400" b="1" dirty="0">
                <a:solidFill>
                  <a:srgbClr val="013A40"/>
                </a:solidFill>
                <a:latin typeface="Cambria" pitchFamily="34" charset="0"/>
                <a:ea typeface="Cambria" pitchFamily="34" charset="-122"/>
                <a:cs typeface="Cambria" pitchFamily="34" charset="-120"/>
              </a:rPr>
              <a:t>4</a:t>
            </a:r>
            <a:endParaRPr lang="en-US" sz="1400" dirty="0"/>
          </a:p>
        </p:txBody>
      </p:sp>
      <p:sp>
        <p:nvSpPr>
          <p:cNvPr id="20" name="Text 18"/>
          <p:cNvSpPr txBox="1"/>
          <p:nvPr/>
        </p:nvSpPr>
        <p:spPr>
          <a:xfrm>
            <a:off x="6565392" y="4937760"/>
            <a:ext cx="4928616" cy="960120"/>
          </a:xfrm>
          <a:prstGeom prst="rect">
            <a:avLst/>
          </a:prstGeom>
          <a:noFill/>
          <a:ln/>
        </p:spPr>
        <p:txBody>
          <a:bodyPr wrap="square" lIns="0" tIns="0" rIns="0" bIns="0" rtlCol="0" anchor="ctr"/>
          <a:lstStyle/>
          <a:p>
            <a:pPr indent="0" marL="0">
              <a:lnSpc>
                <a:spcPct val="125000"/>
              </a:lnSpc>
              <a:buNone/>
            </a:pPr>
            <a:r>
              <a:rPr lang="en-US" sz="1300" dirty="0">
                <a:solidFill>
                  <a:srgbClr val="E4F3F1"/>
                </a:solidFill>
                <a:latin typeface="Calibri" pitchFamily="34" charset="0"/>
                <a:ea typeface="Calibri" pitchFamily="34" charset="-122"/>
                <a:cs typeface="Calibri" pitchFamily="34" charset="-120"/>
              </a:rPr>
              <a:t>A reusable pipeline, extendable with better models, multilingual support, and real-time updates.</a:t>
            </a:r>
            <a:endParaRPr lang="en-US" sz="1300" dirty="0"/>
          </a:p>
        </p:txBody>
      </p:sp>
      <p:sp>
        <p:nvSpPr>
          <p:cNvPr id="21" name="Text 1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F7375"/>
                </a:solidFill>
                <a:latin typeface="Calibri" pitchFamily="34" charset="0"/>
                <a:ea typeface="Calibri" pitchFamily="34" charset="-122"/>
                <a:cs typeface="Calibri" pitchFamily="34" charset="-120"/>
              </a:rPr>
              <a:t>Student Feedback Sentiment Analysis System</a:t>
            </a:r>
            <a:endParaRPr lang="en-US" sz="900" dirty="0"/>
          </a:p>
        </p:txBody>
      </p:sp>
      <p:sp>
        <p:nvSpPr>
          <p:cNvPr id="22" name="Text 20"/>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F737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028090">
              <a:alpha val="45000"/>
            </a:srgbClr>
          </a:solidFill>
          <a:ln/>
        </p:spPr>
      </p:sp>
      <p:sp>
        <p:nvSpPr>
          <p:cNvPr id="3" name="Shape 1"/>
          <p:cNvSpPr/>
          <p:nvPr/>
        </p:nvSpPr>
        <p:spPr>
          <a:xfrm>
            <a:off x="-1645920" y="4389120"/>
            <a:ext cx="3291840" cy="3291840"/>
          </a:xfrm>
          <a:prstGeom prst="ellipse">
            <a:avLst/>
          </a:prstGeom>
          <a:solidFill>
            <a:srgbClr val="02C39A">
              <a:alpha val="40000"/>
            </a:srgbClr>
          </a:solidFill>
          <a:ln/>
        </p:spPr>
      </p:sp>
      <p:sp>
        <p:nvSpPr>
          <p:cNvPr id="4" name="Text 2"/>
          <p:cNvSpPr txBox="1"/>
          <p:nvPr/>
        </p:nvSpPr>
        <p:spPr>
          <a:xfrm>
            <a:off x="0" y="2651760"/>
            <a:ext cx="12188952"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txBox="1"/>
          <p:nvPr/>
        </p:nvSpPr>
        <p:spPr>
          <a:xfrm>
            <a:off x="0" y="3520440"/>
            <a:ext cx="12188952" cy="457200"/>
          </a:xfrm>
          <a:prstGeom prst="rect">
            <a:avLst/>
          </a:prstGeom>
          <a:noFill/>
          <a:ln/>
        </p:spPr>
        <p:txBody>
          <a:bodyPr wrap="square" lIns="0" tIns="0" rIns="0" bIns="0" rtlCol="0" anchor="ctr"/>
          <a:lstStyle/>
          <a:p>
            <a:pPr algn="ctr" indent="0" marL="0">
              <a:buNone/>
            </a:pPr>
            <a:r>
              <a:rPr lang="en-US" sz="1600" dirty="0">
                <a:solidFill>
                  <a:srgbClr val="02C39A"/>
                </a:solidFill>
                <a:latin typeface="Calibri" pitchFamily="34" charset="0"/>
                <a:ea typeface="Calibri" pitchFamily="34" charset="-122"/>
                <a:cs typeface="Calibri" pitchFamily="34" charset="-120"/>
              </a:rPr>
              <a:t>Student Feedback Sentiment Analysis System</a:t>
            </a:r>
            <a:endParaRPr lang="en-US" sz="1600" dirty="0"/>
          </a:p>
        </p:txBody>
      </p:sp>
      <p:sp>
        <p:nvSpPr>
          <p:cNvPr id="6" name="Text 4"/>
          <p:cNvSpPr txBox="1"/>
          <p:nvPr/>
        </p:nvSpPr>
        <p:spPr>
          <a:xfrm>
            <a:off x="0" y="4023360"/>
            <a:ext cx="12188952" cy="365760"/>
          </a:xfrm>
          <a:prstGeom prst="rect">
            <a:avLst/>
          </a:prstGeom>
          <a:noFill/>
          <a:ln/>
        </p:spPr>
        <p:txBody>
          <a:bodyPr wrap="square" lIns="0" tIns="0" rIns="0" bIns="0" rtlCol="0" anchor="ctr"/>
          <a:lstStyle/>
          <a:p>
            <a:pPr algn="ctr" indent="0" marL="0">
              <a:buNone/>
            </a:pPr>
            <a:r>
              <a:rPr lang="en-US" sz="1200" dirty="0">
                <a:solidFill>
                  <a:srgbClr val="B9D6D2"/>
                </a:solidFill>
                <a:latin typeface="Calibri" pitchFamily="34" charset="0"/>
                <a:ea typeface="Calibri" pitchFamily="34" charset="-122"/>
                <a:cs typeface="Calibri" pitchFamily="34" charset="-120"/>
              </a:rPr>
              <a:t>Md Kamran Rais  |  2410030957  |  Codec Technologies Internship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2026-08-29T11:10:45Z</dcterms:created>
  <dcterms:modified xsi:type="dcterms:W3CDTF">2026-08-29T11:10:45Z</dcterms:modified>
</cp:coreProperties>
</file>